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7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9498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JDE Mission Control. This is the system I built to replace the spreadsheet chaos we've been running on for years. Every event, every deal, every metric — one place, real-time. Let me walk you through what it does and why it matters.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what we were dealing with. Every event meant a new set of spreadsheets — Roster, Deal Log, Inventory, Daily Metrics — all disconnected. If someone updated a deal at the dealership, I wouldn't see it until the next day. Version conflicts were constant. We were spending more time managing spreadsheets than managing events.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vision was simple: one source of truth. Replace every spreadsheet with a single dashboard that updates in real-time. Auto-calculate everything. Make it accessible from any device. And layer on gamification and AI to make it not just functional, but genuinely exciting to use.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you see when you first log in. Every active event shows as a scorecard — deal count, total gross, PVR, status. Click into any event and you have 12 fully built modules. Everything syncs in real-time through Supabase, so the moment a deal is logged at the dealership, the dashboard updates everywhere.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recap page — the financial summary the team already knows and loves. Same format, but now it's powered by real deal data instead of manual Excel entry. Green rows are funded deals. Every number is auto-calculated. No more formula errors, no more stale data. You can export to PDF or print it right from the page.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modules run the show floor. Inventory lets you import vehicles and track what's available versus sold. The Deal Log is where every sale gets recorded — with full finance details, trade-in tracking, and the new TI badges. Daily Metrics captures daily totals. And Legacy Upload lets you import existing Google Sheets data with one click so nothing gets left behind.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what makes the dashboard more than just a reporting tool. We built gamification into the DNA. Eighteen badges across five categories — earned automatically when deals are logged. A streak system that tracks consecutive selling days. And a real-time leaderboard that creates friendly competition. The sales team actually gets excited to log deals because they want to see their badge count go up.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Cruze — the standout feature of Mission Control. He's an AI concierge built directly into the dashboard, modeled after Ritz-Carlton service standards. Warm authority, quiet confidence, genuine care. He uses a three-tier intelligence system — simple requests go to a fast model, moderate changes get previewed first, and complex features get logged as development tasks. Every response includes a copy-ready prompt you can paste into Claude Code to actually build the feature. He knows what page you're on, what data you're looking at, and what event you're managing.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Cruze works in practice. Step one — just ask a question in plain English. He pulls from your live data and gives you real answers with real numbers. Step two — if you want a change, he previews it first and waits for your approval. Step three — every preview includes a copy-ready prompt you can paste into Claude Code to actually implement the feature. The cycle from 'I wish this existed' to 'it exists' is measured in minutes, not weeks.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 the hood, Mission Control runs on a modern, production-grade stack. Next.js 15 with TypeScript for the frontend, deployed on Vercel. Supabase for the database with PostgreSQL, row-level security, and real-time subscriptions. Google Sheets integration for legacy data import. And Claude AI powering Cruze with a three-tier routing system. We ran 100 automated tests on the chatbot — it scored 100 out of 100.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results speak for themselves. We went from 24-hour data delays to real-time sync. From 30 minutes of daily spreadsheet management to zero manual calculation. From constant formula errors to automated accuracy. The team has live visibility from any device during events. Gamification is driving real results — we're seeing 76% warranty penetration at Michigan City Ford. And Cruze gives everyone an AI assistant that actually understands the business.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ahead, the roadmap is focused on integration and scale. Q2 brings GoHighLevel integration for lead sync and advanced reporting for event comparison. Q3 is about automation — triggering mail drops from zip code data and launching a dedicated mobile app. By Q4, we're looking at multi-tenant scaling so partner dealerships can self-serve. Every feature will be Cruze-aware, meaning you can ask the AI about any of these systems once they're connected.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This is just the beginning. Mission Control is live, Cruze is operational, and we're building new features every week. If you'd like a live demo or want to discuss how this could work for your dealership, reach out anytime. From Excel chaos to central command — and we're just getting started.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 / 13</a:t>
            </a:r>
          </a:p>
        </p:txBody>
      </p:sp>
      <p:sp>
        <p:nvSpPr>
          <p:cNvPr id="4" name="TextBox 3"/>
          <p:cNvSpPr txBox="1"/>
          <p:nvPr/>
        </p:nvSpPr>
        <p:spPr>
          <a:xfrm>
            <a:off x="731520" y="2194560"/>
            <a:ext cx="10972800" cy="914400"/>
          </a:xfrm>
          <a:prstGeom prst="rect">
            <a:avLst/>
          </a:prstGeom>
          <a:noFill/>
        </p:spPr>
        <p:txBody>
          <a:bodyPr wrap="square">
            <a:spAutoFit/>
          </a:bodyPr>
          <a:lstStyle/>
          <a:p>
            <a:pPr algn="l"/>
            <a:r>
              <a:rPr sz="5200" b="1">
                <a:solidFill>
                  <a:srgbClr val="FFFFFF"/>
                </a:solidFill>
                <a:latin typeface="Inter"/>
              </a:rPr>
              <a:t>JDE Mission Control</a:t>
            </a:r>
          </a:p>
        </p:txBody>
      </p:sp>
      <p:sp>
        <p:nvSpPr>
          <p:cNvPr id="5" name="Rectangle 4"/>
          <p:cNvSpPr/>
          <p:nvPr/>
        </p:nvSpPr>
        <p:spPr>
          <a:xfrm>
            <a:off x="731520" y="3200400"/>
            <a:ext cx="18288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383280"/>
            <a:ext cx="9144000" cy="731520"/>
          </a:xfrm>
          <a:prstGeom prst="rect">
            <a:avLst/>
          </a:prstGeom>
          <a:noFill/>
        </p:spPr>
        <p:txBody>
          <a:bodyPr wrap="square">
            <a:spAutoFit/>
          </a:bodyPr>
          <a:lstStyle/>
          <a:p>
            <a:r>
              <a:rPr sz="2400">
                <a:solidFill>
                  <a:srgbClr val="CBD5E1"/>
                </a:solidFill>
                <a:latin typeface="Inter"/>
              </a:rPr>
              <a:t>From Excel Chaos to Central Command</a:t>
            </a:r>
          </a:p>
        </p:txBody>
      </p:sp>
      <p:sp>
        <p:nvSpPr>
          <p:cNvPr id="7" name="TextBox 6"/>
          <p:cNvSpPr txBox="1"/>
          <p:nvPr/>
        </p:nvSpPr>
        <p:spPr>
          <a:xfrm>
            <a:off x="731520" y="4206240"/>
            <a:ext cx="10058400" cy="3200400"/>
          </a:xfrm>
          <a:prstGeom prst="rect">
            <a:avLst/>
          </a:prstGeom>
          <a:noFill/>
        </p:spPr>
        <p:txBody>
          <a:bodyPr wrap="square">
            <a:spAutoFit/>
          </a:bodyPr>
          <a:lstStyle/>
          <a:p>
            <a:pPr>
              <a:spcAft>
                <a:spcPts val="1200"/>
              </a:spcAft>
            </a:pPr>
            <a:r>
              <a:rPr sz="1600">
                <a:solidFill>
                  <a:srgbClr val="94A3B8"/>
                </a:solidFill>
                <a:latin typeface="Inter"/>
              </a:rPr>
              <a:t>A real-time event management dashboard built for</a:t>
            </a:r>
          </a:p>
          <a:p>
            <a:pPr>
              <a:spcAft>
                <a:spcPts val="1200"/>
              </a:spcAft>
            </a:pPr>
            <a:r>
              <a:rPr sz="1600">
                <a:solidFill>
                  <a:srgbClr val="94A3B8"/>
                </a:solidFill>
                <a:latin typeface="Inter"/>
              </a:rPr>
              <a:t>Just Drive Events — by Mike Stopperich</a:t>
            </a:r>
          </a:p>
        </p:txBody>
      </p:sp>
      <p:sp>
        <p:nvSpPr>
          <p:cNvPr id="8" name="Rounded Rectangle 7"/>
          <p:cNvSpPr/>
          <p:nvPr/>
        </p:nvSpPr>
        <p:spPr>
          <a:xfrm>
            <a:off x="6858000" y="1371600"/>
            <a:ext cx="4846320" cy="457200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0" y="3474720"/>
            <a:ext cx="4846320" cy="365760"/>
          </a:xfrm>
          <a:prstGeom prst="rect">
            <a:avLst/>
          </a:prstGeom>
          <a:noFill/>
        </p:spPr>
        <p:txBody>
          <a:bodyPr wrap="none">
            <a:spAutoFit/>
          </a:bodyPr>
          <a:lstStyle/>
          <a:p>
            <a:pPr algn="ctr"/>
            <a:r>
              <a:rPr sz="1300">
                <a:solidFill>
                  <a:srgbClr val="94A3B8"/>
                </a:solidFill>
                <a:latin typeface="Inter"/>
              </a:rPr>
              <a:t>[ Multi-Event Dashboard Screenshot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2 / 13</a:t>
            </a:r>
          </a:p>
        </p:txBody>
      </p:sp>
      <p:sp>
        <p:nvSpPr>
          <p:cNvPr id="4" name="TextBox 3"/>
          <p:cNvSpPr txBox="1"/>
          <p:nvPr/>
        </p:nvSpPr>
        <p:spPr>
          <a:xfrm>
            <a:off x="731520" y="914400"/>
            <a:ext cx="10972800" cy="914400"/>
          </a:xfrm>
          <a:prstGeom prst="rect">
            <a:avLst/>
          </a:prstGeom>
          <a:noFill/>
        </p:spPr>
        <p:txBody>
          <a:bodyPr wrap="square">
            <a:spAutoFit/>
          </a:bodyPr>
          <a:lstStyle/>
          <a:p>
            <a:pPr algn="l"/>
            <a:r>
              <a:rPr sz="4000" b="1">
                <a:solidFill>
                  <a:srgbClr val="FFFFFF"/>
                </a:solidFill>
                <a:latin typeface="Inter"/>
              </a:rPr>
              <a:t>The Old Way</a:t>
            </a:r>
          </a:p>
        </p:txBody>
      </p:sp>
      <p:sp>
        <p:nvSpPr>
          <p:cNvPr id="5" name="TextBox 4"/>
          <p:cNvSpPr txBox="1"/>
          <p:nvPr/>
        </p:nvSpPr>
        <p:spPr>
          <a:xfrm>
            <a:off x="731520" y="1554480"/>
            <a:ext cx="9144000" cy="731520"/>
          </a:xfrm>
          <a:prstGeom prst="rect">
            <a:avLst/>
          </a:prstGeom>
          <a:noFill/>
        </p:spPr>
        <p:txBody>
          <a:bodyPr wrap="square">
            <a:spAutoFit/>
          </a:bodyPr>
          <a:lstStyle/>
          <a:p>
            <a:r>
              <a:rPr sz="2800">
                <a:solidFill>
                  <a:srgbClr val="EF4444"/>
                </a:solidFill>
                <a:latin typeface="Inter"/>
              </a:rPr>
              <a:t>Excel Chaos</a:t>
            </a:r>
          </a:p>
        </p:txBody>
      </p:sp>
      <p:sp>
        <p:nvSpPr>
          <p:cNvPr id="6" name="Rectangle 5"/>
          <p:cNvSpPr/>
          <p:nvPr/>
        </p:nvSpPr>
        <p:spPr>
          <a:xfrm>
            <a:off x="731520" y="2103120"/>
            <a:ext cx="13716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377440"/>
            <a:ext cx="10058400" cy="3200400"/>
          </a:xfrm>
          <a:prstGeom prst="rect">
            <a:avLst/>
          </a:prstGeom>
          <a:noFill/>
        </p:spPr>
        <p:txBody>
          <a:bodyPr wrap="square">
            <a:spAutoFit/>
          </a:bodyPr>
          <a:lstStyle/>
          <a:p>
            <a:pPr>
              <a:spcAft>
                <a:spcPts val="1200"/>
              </a:spcAft>
            </a:pPr>
            <a:r>
              <a:rPr sz="1600">
                <a:solidFill>
                  <a:srgbClr val="CBD5E1"/>
                </a:solidFill>
                <a:latin typeface="Inter"/>
              </a:rPr>
              <a:t>Multiple disconnected spreadsheets per event</a:t>
            </a:r>
          </a:p>
          <a:p>
            <a:pPr>
              <a:spcAft>
                <a:spcPts val="1200"/>
              </a:spcAft>
            </a:pPr>
            <a:r>
              <a:rPr sz="1600">
                <a:solidFill>
                  <a:srgbClr val="CBD5E1"/>
                </a:solidFill>
                <a:latin typeface="Inter"/>
              </a:rPr>
              <a:t>Manual data entry across Roster, Deal Log, Inventory tabs</a:t>
            </a:r>
          </a:p>
          <a:p>
            <a:pPr>
              <a:spcAft>
                <a:spcPts val="1200"/>
              </a:spcAft>
            </a:pPr>
            <a:r>
              <a:rPr sz="1600">
                <a:solidFill>
                  <a:srgbClr val="CBD5E1"/>
                </a:solidFill>
                <a:latin typeface="Inter"/>
              </a:rPr>
              <a:t>No real-time visibility — always 24 hours behind</a:t>
            </a:r>
          </a:p>
          <a:p>
            <a:pPr>
              <a:spcAft>
                <a:spcPts val="1200"/>
              </a:spcAft>
            </a:pPr>
            <a:r>
              <a:rPr sz="1600">
                <a:solidFill>
                  <a:srgbClr val="CBD5E1"/>
                </a:solidFill>
                <a:latin typeface="Inter"/>
              </a:rPr>
              <a:t>Version conflicts when multiple people edit simultaneously</a:t>
            </a:r>
          </a:p>
          <a:p>
            <a:pPr>
              <a:spcAft>
                <a:spcPts val="1200"/>
              </a:spcAft>
            </a:pPr>
            <a:r>
              <a:rPr sz="1600">
                <a:solidFill>
                  <a:srgbClr val="CBD5E1"/>
                </a:solidFill>
                <a:latin typeface="Inter"/>
              </a:rPr>
              <a:t>Zero automation — every formula, every lookup, by hand</a:t>
            </a:r>
          </a:p>
          <a:p>
            <a:pPr>
              <a:spcAft>
                <a:spcPts val="1200"/>
              </a:spcAft>
            </a:pPr>
            <a:r>
              <a:rPr sz="1600">
                <a:solidFill>
                  <a:srgbClr val="CBD5E1"/>
                </a:solidFill>
                <a:latin typeface="Inter"/>
              </a:rPr>
              <a:t>No historical comparison between events</a:t>
            </a:r>
          </a:p>
        </p:txBody>
      </p:sp>
      <p:sp>
        <p:nvSpPr>
          <p:cNvPr id="8" name="Rounded Rectangle 7"/>
          <p:cNvSpPr/>
          <p:nvPr/>
        </p:nvSpPr>
        <p:spPr>
          <a:xfrm>
            <a:off x="6858000" y="1371600"/>
            <a:ext cx="4846320" cy="457200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0" y="3474720"/>
            <a:ext cx="4846320" cy="365760"/>
          </a:xfrm>
          <a:prstGeom prst="rect">
            <a:avLst/>
          </a:prstGeom>
          <a:noFill/>
        </p:spPr>
        <p:txBody>
          <a:bodyPr wrap="none">
            <a:spAutoFit/>
          </a:bodyPr>
          <a:lstStyle/>
          <a:p>
            <a:pPr algn="ctr"/>
            <a:r>
              <a:rPr sz="1300">
                <a:solidFill>
                  <a:srgbClr val="94A3B8"/>
                </a:solidFill>
                <a:latin typeface="Inter"/>
              </a:rPr>
              <a:t>[ Messy Excel Tabs Collage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3 / 13</a:t>
            </a:r>
          </a:p>
        </p:txBody>
      </p:sp>
      <p:sp>
        <p:nvSpPr>
          <p:cNvPr id="4" name="TextBox 3"/>
          <p:cNvSpPr txBox="1"/>
          <p:nvPr/>
        </p:nvSpPr>
        <p:spPr>
          <a:xfrm>
            <a:off x="731520" y="914400"/>
            <a:ext cx="10972800" cy="914400"/>
          </a:xfrm>
          <a:prstGeom prst="rect">
            <a:avLst/>
          </a:prstGeom>
          <a:noFill/>
        </p:spPr>
        <p:txBody>
          <a:bodyPr wrap="square">
            <a:spAutoFit/>
          </a:bodyPr>
          <a:lstStyle/>
          <a:p>
            <a:pPr algn="l"/>
            <a:r>
              <a:rPr sz="4400" b="1">
                <a:solidFill>
                  <a:srgbClr val="FFFFFF"/>
                </a:solidFill>
                <a:latin typeface="Inter"/>
              </a:rPr>
              <a:t>One Source of Truth</a:t>
            </a:r>
          </a:p>
        </p:txBody>
      </p:sp>
      <p:sp>
        <p:nvSpPr>
          <p:cNvPr id="5" name="Rectangle 4"/>
          <p:cNvSpPr/>
          <p:nvPr/>
        </p:nvSpPr>
        <p:spPr>
          <a:xfrm>
            <a:off x="731520" y="173736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920240"/>
            <a:ext cx="9144000" cy="731520"/>
          </a:xfrm>
          <a:prstGeom prst="rect">
            <a:avLst/>
          </a:prstGeom>
          <a:noFill/>
        </p:spPr>
        <p:txBody>
          <a:bodyPr wrap="square">
            <a:spAutoFit/>
          </a:bodyPr>
          <a:lstStyle/>
          <a:p>
            <a:r>
              <a:rPr sz="2000">
                <a:solidFill>
                  <a:srgbClr val="CBD5E1"/>
                </a:solidFill>
                <a:latin typeface="Inter"/>
              </a:rPr>
              <a:t>Every event. Every deal. Every metric. Real-time.</a:t>
            </a:r>
          </a:p>
        </p:txBody>
      </p:sp>
      <p:sp>
        <p:nvSpPr>
          <p:cNvPr id="7" name="Rounded Rectangle 6"/>
          <p:cNvSpPr/>
          <p:nvPr/>
        </p:nvSpPr>
        <p:spPr>
          <a:xfrm>
            <a:off x="731520" y="2926080"/>
            <a:ext cx="5029200" cy="3200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926080"/>
            <a:ext cx="502920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3154680"/>
            <a:ext cx="4480560" cy="365760"/>
          </a:xfrm>
          <a:prstGeom prst="rect">
            <a:avLst/>
          </a:prstGeom>
          <a:noFill/>
        </p:spPr>
        <p:txBody>
          <a:bodyPr wrap="none">
            <a:spAutoFit/>
          </a:bodyPr>
          <a:lstStyle/>
          <a:p>
            <a:r>
              <a:rPr sz="1400" b="1">
                <a:solidFill>
                  <a:srgbClr val="FFFFFF"/>
                </a:solidFill>
                <a:latin typeface="Inter"/>
              </a:rPr>
              <a:t>BEFORE</a:t>
            </a:r>
          </a:p>
        </p:txBody>
      </p:sp>
      <p:sp>
        <p:nvSpPr>
          <p:cNvPr id="10" name="TextBox 9"/>
          <p:cNvSpPr txBox="1"/>
          <p:nvPr/>
        </p:nvSpPr>
        <p:spPr>
          <a:xfrm>
            <a:off x="1005840" y="3566160"/>
            <a:ext cx="4480560" cy="2286000"/>
          </a:xfrm>
          <a:prstGeom prst="rect">
            <a:avLst/>
          </a:prstGeom>
          <a:noFill/>
        </p:spPr>
        <p:txBody>
          <a:bodyPr wrap="square">
            <a:spAutoFit/>
          </a:bodyPr>
          <a:lstStyle/>
          <a:p>
            <a:pPr>
              <a:spcAft>
                <a:spcPts val="600"/>
              </a:spcAft>
            </a:pPr>
            <a:r>
              <a:rPr sz="1200">
                <a:solidFill>
                  <a:srgbClr val="CBD5E1"/>
                </a:solidFill>
                <a:latin typeface="Inter"/>
              </a:rPr>
              <a:t>8+ spreadsheets per event</a:t>
            </a:r>
          </a:p>
          <a:p>
            <a:pPr>
              <a:spcAft>
                <a:spcPts val="600"/>
              </a:spcAft>
            </a:pPr>
            <a:r>
              <a:rPr sz="1200">
                <a:solidFill>
                  <a:srgbClr val="CBD5E1"/>
                </a:solidFill>
                <a:latin typeface="Inter"/>
              </a:rPr>
              <a:t>Manual formulas &amp; lookups</a:t>
            </a:r>
          </a:p>
          <a:p>
            <a:pPr>
              <a:spcAft>
                <a:spcPts val="600"/>
              </a:spcAft>
            </a:pPr>
            <a:r>
              <a:rPr sz="1200">
                <a:solidFill>
                  <a:srgbClr val="CBD5E1"/>
                </a:solidFill>
                <a:latin typeface="Inter"/>
              </a:rPr>
              <a:t>Data always 24 hours stale</a:t>
            </a:r>
          </a:p>
          <a:p>
            <a:pPr>
              <a:spcAft>
                <a:spcPts val="600"/>
              </a:spcAft>
            </a:pPr>
            <a:r>
              <a:rPr sz="1200">
                <a:solidFill>
                  <a:srgbClr val="CBD5E1"/>
                </a:solidFill>
                <a:latin typeface="Inter"/>
              </a:rPr>
              <a:t>No mobile access</a:t>
            </a:r>
          </a:p>
          <a:p>
            <a:pPr>
              <a:spcAft>
                <a:spcPts val="600"/>
              </a:spcAft>
            </a:pPr>
            <a:r>
              <a:rPr sz="1200">
                <a:solidFill>
                  <a:srgbClr val="CBD5E1"/>
                </a:solidFill>
                <a:latin typeface="Inter"/>
              </a:rPr>
              <a:t>No gamification or motivation</a:t>
            </a:r>
          </a:p>
          <a:p>
            <a:pPr>
              <a:spcAft>
                <a:spcPts val="600"/>
              </a:spcAft>
            </a:pPr>
            <a:r>
              <a:rPr sz="1200">
                <a:solidFill>
                  <a:srgbClr val="CBD5E1"/>
                </a:solidFill>
                <a:latin typeface="Inter"/>
              </a:rPr>
              <a:t>No AI assistance</a:t>
            </a:r>
          </a:p>
        </p:txBody>
      </p:sp>
      <p:sp>
        <p:nvSpPr>
          <p:cNvPr id="11" name="TextBox 10"/>
          <p:cNvSpPr txBox="1"/>
          <p:nvPr/>
        </p:nvSpPr>
        <p:spPr>
          <a:xfrm>
            <a:off x="5943600" y="4114800"/>
            <a:ext cx="731520" cy="457200"/>
          </a:xfrm>
          <a:prstGeom prst="rect">
            <a:avLst/>
          </a:prstGeom>
          <a:noFill/>
        </p:spPr>
        <p:txBody>
          <a:bodyPr wrap="none">
            <a:spAutoFit/>
          </a:bodyPr>
          <a:lstStyle/>
          <a:p>
            <a:pPr algn="ctr"/>
            <a:r>
              <a:rPr sz="3600" b="1">
                <a:solidFill>
                  <a:srgbClr val="3B82F6"/>
                </a:solidFill>
              </a:rPr>
              <a:t>→</a:t>
            </a:r>
          </a:p>
        </p:txBody>
      </p:sp>
      <p:sp>
        <p:nvSpPr>
          <p:cNvPr id="12" name="Rounded Rectangle 11"/>
          <p:cNvSpPr/>
          <p:nvPr/>
        </p:nvSpPr>
        <p:spPr>
          <a:xfrm>
            <a:off x="6858000" y="2926080"/>
            <a:ext cx="4846320" cy="3200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0" y="2926080"/>
            <a:ext cx="48463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3154680"/>
            <a:ext cx="4297680" cy="365760"/>
          </a:xfrm>
          <a:prstGeom prst="rect">
            <a:avLst/>
          </a:prstGeom>
          <a:noFill/>
        </p:spPr>
        <p:txBody>
          <a:bodyPr wrap="none">
            <a:spAutoFit/>
          </a:bodyPr>
          <a:lstStyle/>
          <a:p>
            <a:r>
              <a:rPr sz="1400" b="1">
                <a:solidFill>
                  <a:srgbClr val="FFFFFF"/>
                </a:solidFill>
                <a:latin typeface="Inter"/>
              </a:rPr>
              <a:t>AFTER</a:t>
            </a:r>
          </a:p>
        </p:txBody>
      </p:sp>
      <p:sp>
        <p:nvSpPr>
          <p:cNvPr id="15" name="TextBox 14"/>
          <p:cNvSpPr txBox="1"/>
          <p:nvPr/>
        </p:nvSpPr>
        <p:spPr>
          <a:xfrm>
            <a:off x="7132320" y="3566160"/>
            <a:ext cx="4297680" cy="2286000"/>
          </a:xfrm>
          <a:prstGeom prst="rect">
            <a:avLst/>
          </a:prstGeom>
          <a:noFill/>
        </p:spPr>
        <p:txBody>
          <a:bodyPr wrap="square">
            <a:spAutoFit/>
          </a:bodyPr>
          <a:lstStyle/>
          <a:p>
            <a:pPr>
              <a:spcAft>
                <a:spcPts val="600"/>
              </a:spcAft>
            </a:pPr>
            <a:r>
              <a:rPr sz="1200">
                <a:solidFill>
                  <a:srgbClr val="CBD5E1"/>
                </a:solidFill>
                <a:latin typeface="Inter"/>
              </a:rPr>
              <a:t>1 dashboard for everything</a:t>
            </a:r>
          </a:p>
          <a:p>
            <a:pPr>
              <a:spcAft>
                <a:spcPts val="600"/>
              </a:spcAft>
            </a:pPr>
            <a:r>
              <a:rPr sz="1200">
                <a:solidFill>
                  <a:srgbClr val="CBD5E1"/>
                </a:solidFill>
                <a:latin typeface="Inter"/>
              </a:rPr>
              <a:t>Auto-calculated stats &amp; KPIs</a:t>
            </a:r>
          </a:p>
          <a:p>
            <a:pPr>
              <a:spcAft>
                <a:spcPts val="600"/>
              </a:spcAft>
            </a:pPr>
            <a:r>
              <a:rPr sz="1200">
                <a:solidFill>
                  <a:srgbClr val="CBD5E1"/>
                </a:solidFill>
                <a:latin typeface="Inter"/>
              </a:rPr>
              <a:t>Real-time Supabase sync</a:t>
            </a:r>
          </a:p>
          <a:p>
            <a:pPr>
              <a:spcAft>
                <a:spcPts val="600"/>
              </a:spcAft>
            </a:pPr>
            <a:r>
              <a:rPr sz="1200">
                <a:solidFill>
                  <a:srgbClr val="CBD5E1"/>
                </a:solidFill>
                <a:latin typeface="Inter"/>
              </a:rPr>
              <a:t>Mobile-responsive design</a:t>
            </a:r>
          </a:p>
          <a:p>
            <a:pPr>
              <a:spcAft>
                <a:spcPts val="600"/>
              </a:spcAft>
            </a:pPr>
            <a:r>
              <a:rPr sz="1200">
                <a:solidFill>
                  <a:srgbClr val="CBD5E1"/>
                </a:solidFill>
                <a:latin typeface="Inter"/>
              </a:rPr>
              <a:t>Badges, streaks, leaderboards</a:t>
            </a:r>
          </a:p>
          <a:p>
            <a:pPr>
              <a:spcAft>
                <a:spcPts val="600"/>
              </a:spcAft>
            </a:pPr>
            <a:r>
              <a:rPr sz="1200">
                <a:solidFill>
                  <a:srgbClr val="CBD5E1"/>
                </a:solidFill>
                <a:latin typeface="Inter"/>
              </a:rPr>
              <a:t>Cruze AI concierge built 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4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Mission Control at a Glance</a:t>
            </a:r>
          </a:p>
        </p:txBody>
      </p:sp>
      <p:sp>
        <p:nvSpPr>
          <p:cNvPr id="5" name="Rectangle 4"/>
          <p:cNvSpPr/>
          <p:nvPr/>
        </p:nvSpPr>
        <p:spPr>
          <a:xfrm>
            <a:off x="731520" y="146304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828800"/>
            <a:ext cx="3291840" cy="1828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3291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057400"/>
            <a:ext cx="2743200" cy="365760"/>
          </a:xfrm>
          <a:prstGeom prst="rect">
            <a:avLst/>
          </a:prstGeom>
          <a:noFill/>
        </p:spPr>
        <p:txBody>
          <a:bodyPr wrap="none">
            <a:spAutoFit/>
          </a:bodyPr>
          <a:lstStyle/>
          <a:p>
            <a:r>
              <a:rPr sz="1400" b="1">
                <a:solidFill>
                  <a:srgbClr val="FFFFFF"/>
                </a:solidFill>
                <a:latin typeface="Inter"/>
              </a:rPr>
              <a:t>Multi-Event Scorecards</a:t>
            </a:r>
          </a:p>
        </p:txBody>
      </p:sp>
      <p:sp>
        <p:nvSpPr>
          <p:cNvPr id="9" name="TextBox 8"/>
          <p:cNvSpPr txBox="1"/>
          <p:nvPr/>
        </p:nvSpPr>
        <p:spPr>
          <a:xfrm>
            <a:off x="1005840" y="2468880"/>
            <a:ext cx="2743200" cy="914400"/>
          </a:xfrm>
          <a:prstGeom prst="rect">
            <a:avLst/>
          </a:prstGeom>
          <a:noFill/>
        </p:spPr>
        <p:txBody>
          <a:bodyPr wrap="square">
            <a:spAutoFit/>
          </a:bodyPr>
          <a:lstStyle/>
          <a:p>
            <a:pPr>
              <a:spcAft>
                <a:spcPts val="600"/>
              </a:spcAft>
            </a:pPr>
            <a:r>
              <a:rPr sz="1200">
                <a:solidFill>
                  <a:srgbClr val="CBD5E1"/>
                </a:solidFill>
                <a:latin typeface="Inter"/>
              </a:rPr>
              <a:t>See every active event at once.</a:t>
            </a:r>
          </a:p>
          <a:p>
            <a:pPr>
              <a:spcAft>
                <a:spcPts val="600"/>
              </a:spcAft>
            </a:pPr>
            <a:r>
              <a:rPr sz="1200">
                <a:solidFill>
                  <a:srgbClr val="CBD5E1"/>
                </a:solidFill>
                <a:latin typeface="Inter"/>
              </a:rPr>
              <a:t>Status, deal count, gross, PVR —</a:t>
            </a:r>
          </a:p>
          <a:p>
            <a:pPr>
              <a:spcAft>
                <a:spcPts val="600"/>
              </a:spcAft>
            </a:pPr>
            <a:r>
              <a:rPr sz="1200">
                <a:solidFill>
                  <a:srgbClr val="CBD5E1"/>
                </a:solidFill>
                <a:latin typeface="Inter"/>
              </a:rPr>
              <a:t>all on the landing page.</a:t>
            </a:r>
          </a:p>
        </p:txBody>
      </p:sp>
      <p:sp>
        <p:nvSpPr>
          <p:cNvPr id="10" name="Rounded Rectangle 9"/>
          <p:cNvSpPr/>
          <p:nvPr/>
        </p:nvSpPr>
        <p:spPr>
          <a:xfrm>
            <a:off x="4297680" y="1828800"/>
            <a:ext cx="3291840" cy="1828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1828800"/>
            <a:ext cx="3291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2057400"/>
            <a:ext cx="2743200" cy="365760"/>
          </a:xfrm>
          <a:prstGeom prst="rect">
            <a:avLst/>
          </a:prstGeom>
          <a:noFill/>
        </p:spPr>
        <p:txBody>
          <a:bodyPr wrap="none">
            <a:spAutoFit/>
          </a:bodyPr>
          <a:lstStyle/>
          <a:p>
            <a:r>
              <a:rPr sz="1400" b="1">
                <a:solidFill>
                  <a:srgbClr val="FFFFFF"/>
                </a:solidFill>
                <a:latin typeface="Inter"/>
              </a:rPr>
              <a:t>12 Modules</a:t>
            </a:r>
          </a:p>
        </p:txBody>
      </p:sp>
      <p:sp>
        <p:nvSpPr>
          <p:cNvPr id="13" name="TextBox 12"/>
          <p:cNvSpPr txBox="1"/>
          <p:nvPr/>
        </p:nvSpPr>
        <p:spPr>
          <a:xfrm>
            <a:off x="4572000" y="2468880"/>
            <a:ext cx="2743200" cy="914400"/>
          </a:xfrm>
          <a:prstGeom prst="rect">
            <a:avLst/>
          </a:prstGeom>
          <a:noFill/>
        </p:spPr>
        <p:txBody>
          <a:bodyPr wrap="square">
            <a:spAutoFit/>
          </a:bodyPr>
          <a:lstStyle/>
          <a:p>
            <a:pPr>
              <a:spcAft>
                <a:spcPts val="600"/>
              </a:spcAft>
            </a:pPr>
            <a:r>
              <a:rPr sz="1200">
                <a:solidFill>
                  <a:srgbClr val="CBD5E1"/>
                </a:solidFill>
                <a:latin typeface="Inter"/>
              </a:rPr>
              <a:t>Inventory, Deal Log, Roster,</a:t>
            </a:r>
          </a:p>
          <a:p>
            <a:pPr>
              <a:spcAft>
                <a:spcPts val="600"/>
              </a:spcAft>
            </a:pPr>
            <a:r>
              <a:rPr sz="1200">
                <a:solidFill>
                  <a:srgbClr val="CBD5E1"/>
                </a:solidFill>
                <a:latin typeface="Inter"/>
              </a:rPr>
              <a:t>Daily Metrics, Campaigns,</a:t>
            </a:r>
          </a:p>
          <a:p>
            <a:pPr>
              <a:spcAft>
                <a:spcPts val="600"/>
              </a:spcAft>
            </a:pPr>
            <a:r>
              <a:rPr sz="1200">
                <a:solidFill>
                  <a:srgbClr val="CBD5E1"/>
                </a:solidFill>
                <a:latin typeface="Inter"/>
              </a:rPr>
              <a:t>Commissions, Performance, more.</a:t>
            </a:r>
          </a:p>
        </p:txBody>
      </p:sp>
      <p:sp>
        <p:nvSpPr>
          <p:cNvPr id="14" name="Rounded Rectangle 13"/>
          <p:cNvSpPr/>
          <p:nvPr/>
        </p:nvSpPr>
        <p:spPr>
          <a:xfrm>
            <a:off x="7863840" y="1828800"/>
            <a:ext cx="3291840" cy="1828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63840" y="1828800"/>
            <a:ext cx="329184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2057400"/>
            <a:ext cx="2743200" cy="365760"/>
          </a:xfrm>
          <a:prstGeom prst="rect">
            <a:avLst/>
          </a:prstGeom>
          <a:noFill/>
        </p:spPr>
        <p:txBody>
          <a:bodyPr wrap="none">
            <a:spAutoFit/>
          </a:bodyPr>
          <a:lstStyle/>
          <a:p>
            <a:r>
              <a:rPr sz="1400" b="1">
                <a:solidFill>
                  <a:srgbClr val="FFFFFF"/>
                </a:solidFill>
                <a:latin typeface="Inter"/>
              </a:rPr>
              <a:t>Real-Time Sync</a:t>
            </a:r>
          </a:p>
        </p:txBody>
      </p:sp>
      <p:sp>
        <p:nvSpPr>
          <p:cNvPr id="17" name="TextBox 16"/>
          <p:cNvSpPr txBox="1"/>
          <p:nvPr/>
        </p:nvSpPr>
        <p:spPr>
          <a:xfrm>
            <a:off x="8138160" y="2468880"/>
            <a:ext cx="2743200" cy="914400"/>
          </a:xfrm>
          <a:prstGeom prst="rect">
            <a:avLst/>
          </a:prstGeom>
          <a:noFill/>
        </p:spPr>
        <p:txBody>
          <a:bodyPr wrap="square">
            <a:spAutoFit/>
          </a:bodyPr>
          <a:lstStyle/>
          <a:p>
            <a:pPr>
              <a:spcAft>
                <a:spcPts val="600"/>
              </a:spcAft>
            </a:pPr>
            <a:r>
              <a:rPr sz="1200">
                <a:solidFill>
                  <a:srgbClr val="CBD5E1"/>
                </a:solidFill>
                <a:latin typeface="Inter"/>
              </a:rPr>
              <a:t>Supabase powers live updates.</a:t>
            </a:r>
          </a:p>
          <a:p>
            <a:pPr>
              <a:spcAft>
                <a:spcPts val="600"/>
              </a:spcAft>
            </a:pPr>
            <a:r>
              <a:rPr sz="1200">
                <a:solidFill>
                  <a:srgbClr val="CBD5E1"/>
                </a:solidFill>
                <a:latin typeface="Inter"/>
              </a:rPr>
              <a:t>Log a deal — stats refresh</a:t>
            </a:r>
          </a:p>
          <a:p>
            <a:pPr>
              <a:spcAft>
                <a:spcPts val="600"/>
              </a:spcAft>
            </a:pPr>
            <a:r>
              <a:rPr sz="1200">
                <a:solidFill>
                  <a:srgbClr val="CBD5E1"/>
                </a:solidFill>
                <a:latin typeface="Inter"/>
              </a:rPr>
              <a:t>instantly across all views.</a:t>
            </a:r>
          </a:p>
        </p:txBody>
      </p:sp>
      <p:sp>
        <p:nvSpPr>
          <p:cNvPr id="18" name="Rounded Rectangle 17"/>
          <p:cNvSpPr/>
          <p:nvPr/>
        </p:nvSpPr>
        <p:spPr>
          <a:xfrm>
            <a:off x="731520" y="3931920"/>
            <a:ext cx="10424160" cy="256032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029199"/>
            <a:ext cx="10424160" cy="365760"/>
          </a:xfrm>
          <a:prstGeom prst="rect">
            <a:avLst/>
          </a:prstGeom>
          <a:noFill/>
        </p:spPr>
        <p:txBody>
          <a:bodyPr wrap="none">
            <a:spAutoFit/>
          </a:bodyPr>
          <a:lstStyle/>
          <a:p>
            <a:pPr algn="ctr"/>
            <a:r>
              <a:rPr sz="1300">
                <a:solidFill>
                  <a:srgbClr val="94A3B8"/>
                </a:solidFill>
                <a:latin typeface="Inter"/>
              </a:rPr>
              <a:t>[ Full Dashboard Screenshot — Multi-Event Scorecards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5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The Recap You Know &amp; Love</a:t>
            </a:r>
          </a:p>
        </p:txBody>
      </p:sp>
      <p:sp>
        <p:nvSpPr>
          <p:cNvPr id="5" name="TextBox 4"/>
          <p:cNvSpPr txBox="1"/>
          <p:nvPr/>
        </p:nvSpPr>
        <p:spPr>
          <a:xfrm>
            <a:off x="731520" y="1463040"/>
            <a:ext cx="9144000" cy="731520"/>
          </a:xfrm>
          <a:prstGeom prst="rect">
            <a:avLst/>
          </a:prstGeom>
          <a:noFill/>
        </p:spPr>
        <p:txBody>
          <a:bodyPr wrap="square">
            <a:spAutoFit/>
          </a:bodyPr>
          <a:lstStyle/>
          <a:p>
            <a:r>
              <a:rPr sz="2000">
                <a:solidFill>
                  <a:srgbClr val="F59E0B"/>
                </a:solidFill>
                <a:latin typeface="Inter"/>
              </a:rPr>
              <a:t>Now live. Now accurate. Now instant.</a:t>
            </a:r>
          </a:p>
        </p:txBody>
      </p:sp>
      <p:sp>
        <p:nvSpPr>
          <p:cNvPr id="6" name="Rectangle 5"/>
          <p:cNvSpPr/>
          <p:nvPr/>
        </p:nvSpPr>
        <p:spPr>
          <a:xfrm>
            <a:off x="731520" y="1920240"/>
            <a:ext cx="1371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94560"/>
            <a:ext cx="10058400" cy="3200400"/>
          </a:xfrm>
          <a:prstGeom prst="rect">
            <a:avLst/>
          </a:prstGeom>
          <a:noFill/>
        </p:spPr>
        <p:txBody>
          <a:bodyPr wrap="square">
            <a:spAutoFit/>
          </a:bodyPr>
          <a:lstStyle/>
          <a:p>
            <a:pPr>
              <a:spcAft>
                <a:spcPts val="1200"/>
              </a:spcAft>
            </a:pPr>
            <a:r>
              <a:rPr sz="1600">
                <a:solidFill>
                  <a:srgbClr val="CBD5E1"/>
                </a:solidFill>
                <a:latin typeface="Inter"/>
              </a:rPr>
              <a:t>The same financial recap format the team already uses —</a:t>
            </a:r>
          </a:p>
          <a:p>
            <a:pPr>
              <a:spcAft>
                <a:spcPts val="1200"/>
              </a:spcAft>
            </a:pPr>
            <a:r>
              <a:rPr sz="1600">
                <a:solidFill>
                  <a:srgbClr val="CBD5E1"/>
                </a:solidFill>
                <a:latin typeface="Inter"/>
              </a:rPr>
              <a:t>but powered by real data instead of manual entry.</a:t>
            </a:r>
          </a:p>
          <a:p>
            <a:pPr>
              <a:spcAft>
                <a:spcPts val="1200"/>
              </a:spcAft>
            </a:pPr>
            <a:endParaRPr sz="1600">
              <a:solidFill>
                <a:srgbClr val="CBD5E1"/>
              </a:solidFill>
              <a:latin typeface="Inter"/>
            </a:endParaRPr>
          </a:p>
          <a:p>
            <a:pPr>
              <a:spcAft>
                <a:spcPts val="1200"/>
              </a:spcAft>
            </a:pPr>
            <a:r>
              <a:rPr sz="1600">
                <a:solidFill>
                  <a:srgbClr val="CBD5E1"/>
                </a:solidFill>
                <a:latin typeface="Inter"/>
              </a:rPr>
              <a:t>Green rows = funded deals contributing to the bottom line</a:t>
            </a:r>
          </a:p>
          <a:p>
            <a:pPr>
              <a:spcAft>
                <a:spcPts val="1200"/>
              </a:spcAft>
            </a:pPr>
            <a:r>
              <a:rPr sz="1600">
                <a:solidFill>
                  <a:srgbClr val="CBD5E1"/>
                </a:solidFill>
                <a:latin typeface="Inter"/>
              </a:rPr>
              <a:t>Every number auto-calculated from the deal log</a:t>
            </a:r>
          </a:p>
          <a:p>
            <a:pPr>
              <a:spcAft>
                <a:spcPts val="1200"/>
              </a:spcAft>
            </a:pPr>
            <a:r>
              <a:rPr sz="1600">
                <a:solidFill>
                  <a:srgbClr val="CBD5E1"/>
                </a:solidFill>
                <a:latin typeface="Inter"/>
              </a:rPr>
              <a:t>Export to PDF or print directly from the page</a:t>
            </a:r>
          </a:p>
        </p:txBody>
      </p:sp>
      <p:sp>
        <p:nvSpPr>
          <p:cNvPr id="8" name="Rounded Rectangle 7"/>
          <p:cNvSpPr/>
          <p:nvPr/>
        </p:nvSpPr>
        <p:spPr>
          <a:xfrm>
            <a:off x="5943600" y="1371600"/>
            <a:ext cx="5760720" cy="475488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0" y="3566159"/>
            <a:ext cx="5760720" cy="365760"/>
          </a:xfrm>
          <a:prstGeom prst="rect">
            <a:avLst/>
          </a:prstGeom>
          <a:noFill/>
        </p:spPr>
        <p:txBody>
          <a:bodyPr wrap="none">
            <a:spAutoFit/>
          </a:bodyPr>
          <a:lstStyle/>
          <a:p>
            <a:pPr algn="ctr"/>
            <a:r>
              <a:rPr sz="1300">
                <a:solidFill>
                  <a:srgbClr val="94A3B8"/>
                </a:solidFill>
                <a:latin typeface="Inter"/>
              </a:rPr>
              <a:t>[ Recap Page Screenshot — Green Funded Rows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6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Built for Live Events</a:t>
            </a:r>
          </a:p>
        </p:txBody>
      </p:sp>
      <p:sp>
        <p:nvSpPr>
          <p:cNvPr id="5" name="Rectangle 4"/>
          <p:cNvSpPr/>
          <p:nvPr/>
        </p:nvSpPr>
        <p:spPr>
          <a:xfrm>
            <a:off x="731520" y="146304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9144000" cy="731520"/>
          </a:xfrm>
          <a:prstGeom prst="rect">
            <a:avLst/>
          </a:prstGeom>
          <a:noFill/>
        </p:spPr>
        <p:txBody>
          <a:bodyPr wrap="square">
            <a:spAutoFit/>
          </a:bodyPr>
          <a:lstStyle/>
          <a:p>
            <a:r>
              <a:rPr sz="1800">
                <a:solidFill>
                  <a:srgbClr val="CBD5E1"/>
                </a:solidFill>
                <a:latin typeface="Inter"/>
              </a:rPr>
              <a:t>Four core modules that run the show floor.</a:t>
            </a:r>
          </a:p>
        </p:txBody>
      </p:sp>
      <p:sp>
        <p:nvSpPr>
          <p:cNvPr id="7" name="Rounded Rectangle 6"/>
          <p:cNvSpPr/>
          <p:nvPr/>
        </p:nvSpPr>
        <p:spPr>
          <a:xfrm>
            <a:off x="731520" y="2377440"/>
            <a:ext cx="530352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377440"/>
            <a:ext cx="5303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606040"/>
            <a:ext cx="4754880" cy="365760"/>
          </a:xfrm>
          <a:prstGeom prst="rect">
            <a:avLst/>
          </a:prstGeom>
          <a:noFill/>
        </p:spPr>
        <p:txBody>
          <a:bodyPr wrap="none">
            <a:spAutoFit/>
          </a:bodyPr>
          <a:lstStyle/>
          <a:p>
            <a:r>
              <a:rPr sz="1400" b="1">
                <a:solidFill>
                  <a:srgbClr val="FFFFFF"/>
                </a:solidFill>
                <a:latin typeface="Inter"/>
              </a:rPr>
              <a:t>Inventory</a:t>
            </a:r>
          </a:p>
        </p:txBody>
      </p:sp>
      <p:sp>
        <p:nvSpPr>
          <p:cNvPr id="10" name="TextBox 9"/>
          <p:cNvSpPr txBox="1"/>
          <p:nvPr/>
        </p:nvSpPr>
        <p:spPr>
          <a:xfrm>
            <a:off x="1005840" y="3017520"/>
            <a:ext cx="4754880" cy="0"/>
          </a:xfrm>
          <a:prstGeom prst="rect">
            <a:avLst/>
          </a:prstGeom>
          <a:noFill/>
        </p:spPr>
        <p:txBody>
          <a:bodyPr wrap="square">
            <a:spAutoFit/>
          </a:bodyPr>
          <a:lstStyle/>
          <a:p>
            <a:pPr>
              <a:spcAft>
                <a:spcPts val="600"/>
              </a:spcAft>
            </a:pPr>
            <a:r>
              <a:rPr sz="1200">
                <a:solidFill>
                  <a:srgbClr val="CBD5E1"/>
                </a:solidFill>
                <a:latin typeface="Inter"/>
              </a:rPr>
              <a:t>Import vehicles, track status, manage pricing tiers</a:t>
            </a:r>
          </a:p>
        </p:txBody>
      </p:sp>
      <p:sp>
        <p:nvSpPr>
          <p:cNvPr id="11" name="Rounded Rectangle 10"/>
          <p:cNvSpPr/>
          <p:nvPr/>
        </p:nvSpPr>
        <p:spPr>
          <a:xfrm>
            <a:off x="731520" y="3383280"/>
            <a:ext cx="5303520" cy="137160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886200"/>
            <a:ext cx="5303520" cy="365760"/>
          </a:xfrm>
          <a:prstGeom prst="rect">
            <a:avLst/>
          </a:prstGeom>
          <a:noFill/>
        </p:spPr>
        <p:txBody>
          <a:bodyPr wrap="none">
            <a:spAutoFit/>
          </a:bodyPr>
          <a:lstStyle/>
          <a:p>
            <a:pPr algn="ctr"/>
            <a:r>
              <a:rPr sz="1300">
                <a:solidFill>
                  <a:srgbClr val="94A3B8"/>
                </a:solidFill>
                <a:latin typeface="Inter"/>
              </a:rPr>
              <a:t>[ Inventory Page Screenshot ]</a:t>
            </a:r>
          </a:p>
        </p:txBody>
      </p:sp>
      <p:sp>
        <p:nvSpPr>
          <p:cNvPr id="13" name="Rounded Rectangle 12"/>
          <p:cNvSpPr/>
          <p:nvPr/>
        </p:nvSpPr>
        <p:spPr>
          <a:xfrm>
            <a:off x="6400800" y="2377440"/>
            <a:ext cx="530352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2377440"/>
            <a:ext cx="5303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0" y="2606040"/>
            <a:ext cx="4754880" cy="365760"/>
          </a:xfrm>
          <a:prstGeom prst="rect">
            <a:avLst/>
          </a:prstGeom>
          <a:noFill/>
        </p:spPr>
        <p:txBody>
          <a:bodyPr wrap="none">
            <a:spAutoFit/>
          </a:bodyPr>
          <a:lstStyle/>
          <a:p>
            <a:r>
              <a:rPr sz="1400" b="1">
                <a:solidFill>
                  <a:srgbClr val="FFFFFF"/>
                </a:solidFill>
                <a:latin typeface="Inter"/>
              </a:rPr>
              <a:t>Deal Log</a:t>
            </a:r>
          </a:p>
        </p:txBody>
      </p:sp>
      <p:sp>
        <p:nvSpPr>
          <p:cNvPr id="16" name="TextBox 15"/>
          <p:cNvSpPr txBox="1"/>
          <p:nvPr/>
        </p:nvSpPr>
        <p:spPr>
          <a:xfrm>
            <a:off x="6675120" y="3017520"/>
            <a:ext cx="4754880" cy="0"/>
          </a:xfrm>
          <a:prstGeom prst="rect">
            <a:avLst/>
          </a:prstGeom>
          <a:noFill/>
        </p:spPr>
        <p:txBody>
          <a:bodyPr wrap="square">
            <a:spAutoFit/>
          </a:bodyPr>
          <a:lstStyle/>
          <a:p>
            <a:pPr>
              <a:spcAft>
                <a:spcPts val="600"/>
              </a:spcAft>
            </a:pPr>
            <a:r>
              <a:rPr sz="1200">
                <a:solidFill>
                  <a:srgbClr val="CBD5E1"/>
                </a:solidFill>
                <a:latin typeface="Inter"/>
              </a:rPr>
              <a:t>Log deals with full finance details, TI badges, stat cards</a:t>
            </a:r>
          </a:p>
        </p:txBody>
      </p:sp>
      <p:sp>
        <p:nvSpPr>
          <p:cNvPr id="17" name="Rounded Rectangle 16"/>
          <p:cNvSpPr/>
          <p:nvPr/>
        </p:nvSpPr>
        <p:spPr>
          <a:xfrm>
            <a:off x="6400800" y="3383280"/>
            <a:ext cx="5303520" cy="137160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3886200"/>
            <a:ext cx="5303520" cy="365760"/>
          </a:xfrm>
          <a:prstGeom prst="rect">
            <a:avLst/>
          </a:prstGeom>
          <a:noFill/>
        </p:spPr>
        <p:txBody>
          <a:bodyPr wrap="none">
            <a:spAutoFit/>
          </a:bodyPr>
          <a:lstStyle/>
          <a:p>
            <a:pPr algn="ctr"/>
            <a:r>
              <a:rPr sz="1300">
                <a:solidFill>
                  <a:srgbClr val="94A3B8"/>
                </a:solidFill>
                <a:latin typeface="Inter"/>
              </a:rPr>
              <a:t>[ Deal Log Page Screenshot ]</a:t>
            </a:r>
          </a:p>
        </p:txBody>
      </p:sp>
      <p:sp>
        <p:nvSpPr>
          <p:cNvPr id="19" name="Rounded Rectangle 18"/>
          <p:cNvSpPr/>
          <p:nvPr/>
        </p:nvSpPr>
        <p:spPr>
          <a:xfrm>
            <a:off x="731520" y="4937760"/>
            <a:ext cx="530352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4937760"/>
            <a:ext cx="53035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166360"/>
            <a:ext cx="4754880" cy="365760"/>
          </a:xfrm>
          <a:prstGeom prst="rect">
            <a:avLst/>
          </a:prstGeom>
          <a:noFill/>
        </p:spPr>
        <p:txBody>
          <a:bodyPr wrap="none">
            <a:spAutoFit/>
          </a:bodyPr>
          <a:lstStyle/>
          <a:p>
            <a:r>
              <a:rPr sz="1400" b="1">
                <a:solidFill>
                  <a:srgbClr val="FFFFFF"/>
                </a:solidFill>
                <a:latin typeface="Inter"/>
              </a:rPr>
              <a:t>Daily Metrics</a:t>
            </a:r>
          </a:p>
        </p:txBody>
      </p:sp>
      <p:sp>
        <p:nvSpPr>
          <p:cNvPr id="22" name="TextBox 21"/>
          <p:cNvSpPr txBox="1"/>
          <p:nvPr/>
        </p:nvSpPr>
        <p:spPr>
          <a:xfrm>
            <a:off x="1005840" y="5577840"/>
            <a:ext cx="4754880" cy="0"/>
          </a:xfrm>
          <a:prstGeom prst="rect">
            <a:avLst/>
          </a:prstGeom>
          <a:noFill/>
        </p:spPr>
        <p:txBody>
          <a:bodyPr wrap="square">
            <a:spAutoFit/>
          </a:bodyPr>
          <a:lstStyle/>
          <a:p>
            <a:pPr>
              <a:spcAft>
                <a:spcPts val="600"/>
              </a:spcAft>
            </a:pPr>
            <a:r>
              <a:rPr sz="1200">
                <a:solidFill>
                  <a:srgbClr val="CBD5E1"/>
                </a:solidFill>
                <a:latin typeface="Inter"/>
              </a:rPr>
              <a:t>Track daily ups, appointments, sold units, gross</a:t>
            </a:r>
          </a:p>
        </p:txBody>
      </p:sp>
      <p:sp>
        <p:nvSpPr>
          <p:cNvPr id="23" name="Rounded Rectangle 22"/>
          <p:cNvSpPr/>
          <p:nvPr/>
        </p:nvSpPr>
        <p:spPr>
          <a:xfrm>
            <a:off x="731520" y="5943600"/>
            <a:ext cx="5303520" cy="64008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6080759"/>
            <a:ext cx="5303520" cy="365760"/>
          </a:xfrm>
          <a:prstGeom prst="rect">
            <a:avLst/>
          </a:prstGeom>
          <a:noFill/>
        </p:spPr>
        <p:txBody>
          <a:bodyPr wrap="none">
            <a:spAutoFit/>
          </a:bodyPr>
          <a:lstStyle/>
          <a:p>
            <a:pPr algn="ctr"/>
            <a:r>
              <a:rPr sz="1300">
                <a:solidFill>
                  <a:srgbClr val="94A3B8"/>
                </a:solidFill>
                <a:latin typeface="Inter"/>
              </a:rPr>
              <a:t>[ Daily Metrics Screenshot ]</a:t>
            </a:r>
          </a:p>
        </p:txBody>
      </p:sp>
      <p:sp>
        <p:nvSpPr>
          <p:cNvPr id="25" name="Rounded Rectangle 24"/>
          <p:cNvSpPr/>
          <p:nvPr/>
        </p:nvSpPr>
        <p:spPr>
          <a:xfrm>
            <a:off x="6400800" y="4937760"/>
            <a:ext cx="530352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4937760"/>
            <a:ext cx="53035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5166360"/>
            <a:ext cx="4754880" cy="365760"/>
          </a:xfrm>
          <a:prstGeom prst="rect">
            <a:avLst/>
          </a:prstGeom>
          <a:noFill/>
        </p:spPr>
        <p:txBody>
          <a:bodyPr wrap="none">
            <a:spAutoFit/>
          </a:bodyPr>
          <a:lstStyle/>
          <a:p>
            <a:r>
              <a:rPr sz="1400" b="1">
                <a:solidFill>
                  <a:srgbClr val="FFFFFF"/>
                </a:solidFill>
                <a:latin typeface="Inter"/>
              </a:rPr>
              <a:t>Legacy Upload</a:t>
            </a:r>
          </a:p>
        </p:txBody>
      </p:sp>
      <p:sp>
        <p:nvSpPr>
          <p:cNvPr id="28" name="TextBox 27"/>
          <p:cNvSpPr txBox="1"/>
          <p:nvPr/>
        </p:nvSpPr>
        <p:spPr>
          <a:xfrm>
            <a:off x="6675120" y="5577840"/>
            <a:ext cx="4754880" cy="0"/>
          </a:xfrm>
          <a:prstGeom prst="rect">
            <a:avLst/>
          </a:prstGeom>
          <a:noFill/>
        </p:spPr>
        <p:txBody>
          <a:bodyPr wrap="square">
            <a:spAutoFit/>
          </a:bodyPr>
          <a:lstStyle/>
          <a:p>
            <a:pPr>
              <a:spcAft>
                <a:spcPts val="600"/>
              </a:spcAft>
            </a:pPr>
            <a:r>
              <a:rPr sz="1200">
                <a:solidFill>
                  <a:srgbClr val="CBD5E1"/>
                </a:solidFill>
                <a:latin typeface="Inter"/>
              </a:rPr>
              <a:t>One-click import from existing Google Sheets</a:t>
            </a:r>
          </a:p>
        </p:txBody>
      </p:sp>
      <p:sp>
        <p:nvSpPr>
          <p:cNvPr id="29" name="Rounded Rectangle 28"/>
          <p:cNvSpPr/>
          <p:nvPr/>
        </p:nvSpPr>
        <p:spPr>
          <a:xfrm>
            <a:off x="6400800" y="5943600"/>
            <a:ext cx="5303520" cy="64008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6080759"/>
            <a:ext cx="5303520" cy="365760"/>
          </a:xfrm>
          <a:prstGeom prst="rect">
            <a:avLst/>
          </a:prstGeom>
          <a:noFill/>
        </p:spPr>
        <p:txBody>
          <a:bodyPr wrap="none">
            <a:spAutoFit/>
          </a:bodyPr>
          <a:lstStyle/>
          <a:p>
            <a:pPr algn="ctr"/>
            <a:r>
              <a:rPr sz="1300">
                <a:solidFill>
                  <a:srgbClr val="94A3B8"/>
                </a:solidFill>
                <a:latin typeface="Inter"/>
              </a:rPr>
              <a:t>[ Legacy Upload Screenshot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7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Turning Competition into Results</a:t>
            </a:r>
          </a:p>
        </p:txBody>
      </p:sp>
      <p:sp>
        <p:nvSpPr>
          <p:cNvPr id="5" name="Rectangle 4"/>
          <p:cNvSpPr/>
          <p:nvPr/>
        </p:nvSpPr>
        <p:spPr>
          <a:xfrm>
            <a:off x="731520" y="1463040"/>
            <a:ext cx="1371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9144000" cy="731520"/>
          </a:xfrm>
          <a:prstGeom prst="rect">
            <a:avLst/>
          </a:prstGeom>
          <a:noFill/>
        </p:spPr>
        <p:txBody>
          <a:bodyPr wrap="square">
            <a:spAutoFit/>
          </a:bodyPr>
          <a:lstStyle/>
          <a:p>
            <a:r>
              <a:rPr sz="1800">
                <a:solidFill>
                  <a:srgbClr val="F59E0B"/>
                </a:solidFill>
                <a:latin typeface="Inter"/>
              </a:rPr>
              <a:t>Badges. Streaks. Leaderboards. Real motivation.</a:t>
            </a:r>
          </a:p>
        </p:txBody>
      </p:sp>
      <p:sp>
        <p:nvSpPr>
          <p:cNvPr id="7" name="Rounded Rectangle 6"/>
          <p:cNvSpPr/>
          <p:nvPr/>
        </p:nvSpPr>
        <p:spPr>
          <a:xfrm>
            <a:off x="731520" y="2377440"/>
            <a:ext cx="3291840" cy="36576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377440"/>
            <a:ext cx="3291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606040"/>
            <a:ext cx="2743200" cy="365760"/>
          </a:xfrm>
          <a:prstGeom prst="rect">
            <a:avLst/>
          </a:prstGeom>
          <a:noFill/>
        </p:spPr>
        <p:txBody>
          <a:bodyPr wrap="none">
            <a:spAutoFit/>
          </a:bodyPr>
          <a:lstStyle/>
          <a:p>
            <a:r>
              <a:rPr sz="1400" b="1">
                <a:solidFill>
                  <a:srgbClr val="FFFFFF"/>
                </a:solidFill>
                <a:latin typeface="Inter"/>
              </a:rPr>
              <a:t>18 Badges</a:t>
            </a:r>
          </a:p>
        </p:txBody>
      </p:sp>
      <p:sp>
        <p:nvSpPr>
          <p:cNvPr id="10" name="TextBox 9"/>
          <p:cNvSpPr txBox="1"/>
          <p:nvPr/>
        </p:nvSpPr>
        <p:spPr>
          <a:xfrm>
            <a:off x="1005840" y="3017520"/>
            <a:ext cx="2743200" cy="2743200"/>
          </a:xfrm>
          <a:prstGeom prst="rect">
            <a:avLst/>
          </a:prstGeom>
          <a:noFill/>
        </p:spPr>
        <p:txBody>
          <a:bodyPr wrap="square">
            <a:spAutoFit/>
          </a:bodyPr>
          <a:lstStyle/>
          <a:p>
            <a:pPr>
              <a:spcAft>
                <a:spcPts val="600"/>
              </a:spcAft>
            </a:pPr>
            <a:r>
              <a:rPr sz="1200">
                <a:solidFill>
                  <a:srgbClr val="CBD5E1"/>
                </a:solidFill>
                <a:latin typeface="Inter"/>
              </a:rPr>
              <a:t>5 categories:</a:t>
            </a:r>
          </a:p>
          <a:p>
            <a:pPr>
              <a:spcAft>
                <a:spcPts val="600"/>
              </a:spcAft>
            </a:pPr>
            <a:r>
              <a:rPr sz="1200">
                <a:solidFill>
                  <a:srgbClr val="CBD5E1"/>
                </a:solidFill>
                <a:latin typeface="Inter"/>
              </a:rPr>
              <a:t>  Sales Volume</a:t>
            </a:r>
          </a:p>
          <a:p>
            <a:pPr>
              <a:spcAft>
                <a:spcPts val="600"/>
              </a:spcAft>
            </a:pPr>
            <a:r>
              <a:rPr sz="1200">
                <a:solidFill>
                  <a:srgbClr val="CBD5E1"/>
                </a:solidFill>
                <a:latin typeface="Inter"/>
              </a:rPr>
              <a:t>  Gross Profit</a:t>
            </a:r>
          </a:p>
          <a:p>
            <a:pPr>
              <a:spcAft>
                <a:spcPts val="600"/>
              </a:spcAft>
            </a:pPr>
            <a:r>
              <a:rPr sz="1200">
                <a:solidFill>
                  <a:srgbClr val="CBD5E1"/>
                </a:solidFill>
                <a:latin typeface="Inter"/>
              </a:rPr>
              <a:t>  Closing Excellence</a:t>
            </a:r>
          </a:p>
          <a:p>
            <a:pPr>
              <a:spcAft>
                <a:spcPts val="600"/>
              </a:spcAft>
            </a:pPr>
            <a:r>
              <a:rPr sz="1200">
                <a:solidFill>
                  <a:srgbClr val="CBD5E1"/>
                </a:solidFill>
                <a:latin typeface="Inter"/>
              </a:rPr>
              <a:t>  Streak Milestones</a:t>
            </a:r>
          </a:p>
          <a:p>
            <a:pPr>
              <a:spcAft>
                <a:spcPts val="600"/>
              </a:spcAft>
            </a:pPr>
            <a:r>
              <a:rPr sz="1200">
                <a:solidFill>
                  <a:srgbClr val="CBD5E1"/>
                </a:solidFill>
                <a:latin typeface="Inter"/>
              </a:rPr>
              <a:t>  Team Contribution</a:t>
            </a:r>
          </a:p>
          <a:p>
            <a:pPr>
              <a:spcAft>
                <a:spcPts val="600"/>
              </a:spcAft>
            </a:pPr>
            <a:endParaRPr sz="1200">
              <a:solidFill>
                <a:srgbClr val="CBD5E1"/>
              </a:solidFill>
              <a:latin typeface="Inter"/>
            </a:endParaRPr>
          </a:p>
          <a:p>
            <a:pPr>
              <a:spcAft>
                <a:spcPts val="600"/>
              </a:spcAft>
            </a:pPr>
            <a:r>
              <a:rPr sz="1200">
                <a:solidFill>
                  <a:srgbClr val="CBD5E1"/>
                </a:solidFill>
                <a:latin typeface="Inter"/>
              </a:rPr>
              <a:t>Earned automatically when</a:t>
            </a:r>
          </a:p>
          <a:p>
            <a:pPr>
              <a:spcAft>
                <a:spcPts val="600"/>
              </a:spcAft>
            </a:pPr>
            <a:r>
              <a:rPr sz="1200">
                <a:solidFill>
                  <a:srgbClr val="CBD5E1"/>
                </a:solidFill>
                <a:latin typeface="Inter"/>
              </a:rPr>
              <a:t>deals are logged.</a:t>
            </a:r>
          </a:p>
        </p:txBody>
      </p:sp>
      <p:sp>
        <p:nvSpPr>
          <p:cNvPr id="11" name="Rounded Rectangle 10"/>
          <p:cNvSpPr/>
          <p:nvPr/>
        </p:nvSpPr>
        <p:spPr>
          <a:xfrm>
            <a:off x="4297680" y="2377440"/>
            <a:ext cx="3291840" cy="36576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2377440"/>
            <a:ext cx="3291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2606040"/>
            <a:ext cx="2743200" cy="365760"/>
          </a:xfrm>
          <a:prstGeom prst="rect">
            <a:avLst/>
          </a:prstGeom>
          <a:noFill/>
        </p:spPr>
        <p:txBody>
          <a:bodyPr wrap="none">
            <a:spAutoFit/>
          </a:bodyPr>
          <a:lstStyle/>
          <a:p>
            <a:r>
              <a:rPr sz="1400" b="1">
                <a:solidFill>
                  <a:srgbClr val="FFFFFF"/>
                </a:solidFill>
                <a:latin typeface="Inter"/>
              </a:rPr>
              <a:t>Streak System</a:t>
            </a:r>
          </a:p>
        </p:txBody>
      </p:sp>
      <p:sp>
        <p:nvSpPr>
          <p:cNvPr id="14" name="TextBox 13"/>
          <p:cNvSpPr txBox="1"/>
          <p:nvPr/>
        </p:nvSpPr>
        <p:spPr>
          <a:xfrm>
            <a:off x="4572000" y="3017520"/>
            <a:ext cx="2743200" cy="2743200"/>
          </a:xfrm>
          <a:prstGeom prst="rect">
            <a:avLst/>
          </a:prstGeom>
          <a:noFill/>
        </p:spPr>
        <p:txBody>
          <a:bodyPr wrap="square">
            <a:spAutoFit/>
          </a:bodyPr>
          <a:lstStyle/>
          <a:p>
            <a:pPr>
              <a:spcAft>
                <a:spcPts val="600"/>
              </a:spcAft>
            </a:pPr>
            <a:r>
              <a:rPr sz="1200">
                <a:solidFill>
                  <a:srgbClr val="CBD5E1"/>
                </a:solidFill>
                <a:latin typeface="Inter"/>
              </a:rPr>
              <a:t>Track consecutive days</a:t>
            </a:r>
          </a:p>
          <a:p>
            <a:pPr>
              <a:spcAft>
                <a:spcPts val="600"/>
              </a:spcAft>
            </a:pPr>
            <a:r>
              <a:rPr sz="1200">
                <a:solidFill>
                  <a:srgbClr val="CBD5E1"/>
                </a:solidFill>
                <a:latin typeface="Inter"/>
              </a:rPr>
              <a:t>with at least one sale.</a:t>
            </a:r>
          </a:p>
          <a:p>
            <a:pPr>
              <a:spcAft>
                <a:spcPts val="600"/>
              </a:spcAft>
            </a:pPr>
            <a:endParaRPr sz="1200">
              <a:solidFill>
                <a:srgbClr val="CBD5E1"/>
              </a:solidFill>
              <a:latin typeface="Inter"/>
            </a:endParaRPr>
          </a:p>
          <a:p>
            <a:pPr>
              <a:spcAft>
                <a:spcPts val="600"/>
              </a:spcAft>
            </a:pPr>
            <a:r>
              <a:rPr sz="1200">
                <a:solidFill>
                  <a:srgbClr val="CBD5E1"/>
                </a:solidFill>
                <a:latin typeface="Inter"/>
              </a:rPr>
              <a:t>Visual flame counter shows</a:t>
            </a:r>
          </a:p>
          <a:p>
            <a:pPr>
              <a:spcAft>
                <a:spcPts val="600"/>
              </a:spcAft>
            </a:pPr>
            <a:r>
              <a:rPr sz="1200">
                <a:solidFill>
                  <a:srgbClr val="CBD5E1"/>
                </a:solidFill>
                <a:latin typeface="Inter"/>
              </a:rPr>
              <a:t>the current streak length.</a:t>
            </a:r>
          </a:p>
          <a:p>
            <a:pPr>
              <a:spcAft>
                <a:spcPts val="600"/>
              </a:spcAft>
            </a:pPr>
            <a:endParaRPr sz="1200">
              <a:solidFill>
                <a:srgbClr val="CBD5E1"/>
              </a:solidFill>
              <a:latin typeface="Inter"/>
            </a:endParaRPr>
          </a:p>
          <a:p>
            <a:pPr>
              <a:spcAft>
                <a:spcPts val="600"/>
              </a:spcAft>
            </a:pPr>
            <a:r>
              <a:rPr sz="1200">
                <a:solidFill>
                  <a:srgbClr val="CBD5E1"/>
                </a:solidFill>
                <a:latin typeface="Inter"/>
              </a:rPr>
              <a:t>Badges unlock at 3, 5,</a:t>
            </a:r>
          </a:p>
          <a:p>
            <a:pPr>
              <a:spcAft>
                <a:spcPts val="600"/>
              </a:spcAft>
            </a:pPr>
            <a:r>
              <a:rPr sz="1200">
                <a:solidFill>
                  <a:srgbClr val="CBD5E1"/>
                </a:solidFill>
                <a:latin typeface="Inter"/>
              </a:rPr>
              <a:t>and 7-day milestones.</a:t>
            </a:r>
          </a:p>
        </p:txBody>
      </p:sp>
      <p:sp>
        <p:nvSpPr>
          <p:cNvPr id="15" name="Rounded Rectangle 14"/>
          <p:cNvSpPr/>
          <p:nvPr/>
        </p:nvSpPr>
        <p:spPr>
          <a:xfrm>
            <a:off x="7863840" y="2377440"/>
            <a:ext cx="3291840" cy="36576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63840" y="2377440"/>
            <a:ext cx="3291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2606040"/>
            <a:ext cx="2743200" cy="365760"/>
          </a:xfrm>
          <a:prstGeom prst="rect">
            <a:avLst/>
          </a:prstGeom>
          <a:noFill/>
        </p:spPr>
        <p:txBody>
          <a:bodyPr wrap="none">
            <a:spAutoFit/>
          </a:bodyPr>
          <a:lstStyle/>
          <a:p>
            <a:r>
              <a:rPr sz="1400" b="1">
                <a:solidFill>
                  <a:srgbClr val="FFFFFF"/>
                </a:solidFill>
                <a:latin typeface="Inter"/>
              </a:rPr>
              <a:t>Leaderboard</a:t>
            </a:r>
          </a:p>
        </p:txBody>
      </p:sp>
      <p:sp>
        <p:nvSpPr>
          <p:cNvPr id="18" name="TextBox 17"/>
          <p:cNvSpPr txBox="1"/>
          <p:nvPr/>
        </p:nvSpPr>
        <p:spPr>
          <a:xfrm>
            <a:off x="8138160" y="3017520"/>
            <a:ext cx="2743200" cy="2743200"/>
          </a:xfrm>
          <a:prstGeom prst="rect">
            <a:avLst/>
          </a:prstGeom>
          <a:noFill/>
        </p:spPr>
        <p:txBody>
          <a:bodyPr wrap="square">
            <a:spAutoFit/>
          </a:bodyPr>
          <a:lstStyle/>
          <a:p>
            <a:pPr>
              <a:spcAft>
                <a:spcPts val="600"/>
              </a:spcAft>
            </a:pPr>
            <a:r>
              <a:rPr sz="1200">
                <a:solidFill>
                  <a:srgbClr val="CBD5E1"/>
                </a:solidFill>
                <a:latin typeface="Inter"/>
              </a:rPr>
              <a:t>Ranked by total gross,</a:t>
            </a:r>
          </a:p>
          <a:p>
            <a:pPr>
              <a:spcAft>
                <a:spcPts val="600"/>
              </a:spcAft>
            </a:pPr>
            <a:r>
              <a:rPr sz="1200">
                <a:solidFill>
                  <a:srgbClr val="CBD5E1"/>
                </a:solidFill>
                <a:latin typeface="Inter"/>
              </a:rPr>
              <a:t>deal count, or PVR.</a:t>
            </a:r>
          </a:p>
          <a:p>
            <a:pPr>
              <a:spcAft>
                <a:spcPts val="600"/>
              </a:spcAft>
            </a:pPr>
            <a:endParaRPr sz="1200">
              <a:solidFill>
                <a:srgbClr val="CBD5E1"/>
              </a:solidFill>
              <a:latin typeface="Inter"/>
            </a:endParaRPr>
          </a:p>
          <a:p>
            <a:pPr>
              <a:spcAft>
                <a:spcPts val="600"/>
              </a:spcAft>
            </a:pPr>
            <a:r>
              <a:rPr sz="1200">
                <a:solidFill>
                  <a:srgbClr val="CBD5E1"/>
                </a:solidFill>
                <a:latin typeface="Inter"/>
              </a:rPr>
              <a:t>Updates in real-time as</a:t>
            </a:r>
          </a:p>
          <a:p>
            <a:pPr>
              <a:spcAft>
                <a:spcPts val="600"/>
              </a:spcAft>
            </a:pPr>
            <a:r>
              <a:rPr sz="1200">
                <a:solidFill>
                  <a:srgbClr val="CBD5E1"/>
                </a:solidFill>
                <a:latin typeface="Inter"/>
              </a:rPr>
              <a:t>new deals are logged.</a:t>
            </a:r>
          </a:p>
          <a:p>
            <a:pPr>
              <a:spcAft>
                <a:spcPts val="600"/>
              </a:spcAft>
            </a:pPr>
            <a:endParaRPr sz="1200">
              <a:solidFill>
                <a:srgbClr val="CBD5E1"/>
              </a:solidFill>
              <a:latin typeface="Inter"/>
            </a:endParaRPr>
          </a:p>
          <a:p>
            <a:pPr>
              <a:spcAft>
                <a:spcPts val="600"/>
              </a:spcAft>
            </a:pPr>
            <a:r>
              <a:rPr sz="1200">
                <a:solidFill>
                  <a:srgbClr val="CBD5E1"/>
                </a:solidFill>
                <a:latin typeface="Inter"/>
              </a:rPr>
              <a:t>Creates friendly competition</a:t>
            </a:r>
          </a:p>
          <a:p>
            <a:pPr>
              <a:spcAft>
                <a:spcPts val="600"/>
              </a:spcAft>
            </a:pPr>
            <a:r>
              <a:rPr sz="1200">
                <a:solidFill>
                  <a:srgbClr val="CBD5E1"/>
                </a:solidFill>
                <a:latin typeface="Inter"/>
              </a:rPr>
              <a:t>that drives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8 / 13</a:t>
            </a:r>
          </a:p>
        </p:txBody>
      </p:sp>
      <p:sp>
        <p:nvSpPr>
          <p:cNvPr id="4" name="TextBox 3"/>
          <p:cNvSpPr txBox="1"/>
          <p:nvPr/>
        </p:nvSpPr>
        <p:spPr>
          <a:xfrm>
            <a:off x="731520" y="914400"/>
            <a:ext cx="10972800" cy="914400"/>
          </a:xfrm>
          <a:prstGeom prst="rect">
            <a:avLst/>
          </a:prstGeom>
          <a:noFill/>
        </p:spPr>
        <p:txBody>
          <a:bodyPr wrap="square">
            <a:spAutoFit/>
          </a:bodyPr>
          <a:lstStyle/>
          <a:p>
            <a:pPr algn="l"/>
            <a:r>
              <a:rPr sz="5200" b="1">
                <a:solidFill>
                  <a:srgbClr val="F59E0B"/>
                </a:solidFill>
                <a:latin typeface="Inter"/>
              </a:rPr>
              <a:t>Meet Cruze</a:t>
            </a:r>
          </a:p>
        </p:txBody>
      </p:sp>
      <p:sp>
        <p:nvSpPr>
          <p:cNvPr id="5" name="Rectangle 4"/>
          <p:cNvSpPr/>
          <p:nvPr/>
        </p:nvSpPr>
        <p:spPr>
          <a:xfrm>
            <a:off x="731520" y="1828800"/>
            <a:ext cx="18288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11680"/>
            <a:ext cx="9144000" cy="731520"/>
          </a:xfrm>
          <a:prstGeom prst="rect">
            <a:avLst/>
          </a:prstGeom>
          <a:noFill/>
        </p:spPr>
        <p:txBody>
          <a:bodyPr wrap="square">
            <a:spAutoFit/>
          </a:bodyPr>
          <a:lstStyle/>
          <a:p>
            <a:r>
              <a:rPr sz="2400">
                <a:solidFill>
                  <a:srgbClr val="FFFFFF"/>
                </a:solidFill>
                <a:latin typeface="Inter"/>
              </a:rPr>
              <a:t>Your Personal Mission Control Concierge</a:t>
            </a:r>
          </a:p>
        </p:txBody>
      </p:sp>
      <p:sp>
        <p:nvSpPr>
          <p:cNvPr id="7" name="TextBox 6"/>
          <p:cNvSpPr txBox="1"/>
          <p:nvPr/>
        </p:nvSpPr>
        <p:spPr>
          <a:xfrm>
            <a:off x="731520" y="3017520"/>
            <a:ext cx="10058400" cy="3200400"/>
          </a:xfrm>
          <a:prstGeom prst="rect">
            <a:avLst/>
          </a:prstGeom>
          <a:noFill/>
        </p:spPr>
        <p:txBody>
          <a:bodyPr wrap="square">
            <a:spAutoFit/>
          </a:bodyPr>
          <a:lstStyle/>
          <a:p>
            <a:pPr>
              <a:spcAft>
                <a:spcPts val="1200"/>
              </a:spcAft>
            </a:pPr>
            <a:r>
              <a:rPr sz="1700">
                <a:solidFill>
                  <a:srgbClr val="CBD5E1"/>
                </a:solidFill>
                <a:latin typeface="Inter"/>
              </a:rPr>
              <a:t>Built with Ritz-Carlton service standards.</a:t>
            </a:r>
          </a:p>
          <a:p>
            <a:pPr>
              <a:spcAft>
                <a:spcPts val="1200"/>
              </a:spcAft>
            </a:pPr>
            <a:r>
              <a:rPr sz="1700">
                <a:solidFill>
                  <a:srgbClr val="CBD5E1"/>
                </a:solidFill>
                <a:latin typeface="Inter"/>
              </a:rPr>
              <a:t>Warm authority. Quiet confidence. Genuine care.</a:t>
            </a:r>
          </a:p>
          <a:p>
            <a:pPr>
              <a:spcAft>
                <a:spcPts val="1200"/>
              </a:spcAft>
            </a:pPr>
            <a:endParaRPr sz="1700">
              <a:solidFill>
                <a:srgbClr val="CBD5E1"/>
              </a:solidFill>
              <a:latin typeface="Inter"/>
            </a:endParaRPr>
          </a:p>
          <a:p>
            <a:pPr>
              <a:spcAft>
                <a:spcPts val="1200"/>
              </a:spcAft>
            </a:pPr>
            <a:r>
              <a:rPr sz="1700">
                <a:solidFill>
                  <a:srgbClr val="CBD5E1"/>
                </a:solidFill>
                <a:latin typeface="Inter"/>
              </a:rPr>
              <a:t>Cruze doesn't just answer questions —</a:t>
            </a:r>
          </a:p>
          <a:p>
            <a:pPr>
              <a:spcAft>
                <a:spcPts val="1200"/>
              </a:spcAft>
            </a:pPr>
            <a:r>
              <a:rPr sz="1700">
                <a:solidFill>
                  <a:srgbClr val="CBD5E1"/>
                </a:solidFill>
                <a:latin typeface="Inter"/>
              </a:rPr>
              <a:t>he anticipates what you need before you ask.</a:t>
            </a:r>
          </a:p>
          <a:p>
            <a:pPr>
              <a:spcAft>
                <a:spcPts val="1200"/>
              </a:spcAft>
            </a:pPr>
            <a:endParaRPr sz="1700">
              <a:solidFill>
                <a:srgbClr val="CBD5E1"/>
              </a:solidFill>
              <a:latin typeface="Inter"/>
            </a:endParaRPr>
          </a:p>
          <a:p>
            <a:pPr>
              <a:spcAft>
                <a:spcPts val="1200"/>
              </a:spcAft>
            </a:pPr>
            <a:r>
              <a:rPr sz="1700">
                <a:solidFill>
                  <a:srgbClr val="CBD5E1"/>
                </a:solidFill>
                <a:latin typeface="Inter"/>
              </a:rPr>
              <a:t>"I've got this." "Taken care of." "Let's make this better."</a:t>
            </a:r>
          </a:p>
        </p:txBody>
      </p:sp>
      <p:sp>
        <p:nvSpPr>
          <p:cNvPr id="8" name="Rounded Rectangle 7"/>
          <p:cNvSpPr/>
          <p:nvPr/>
        </p:nvSpPr>
        <p:spPr>
          <a:xfrm>
            <a:off x="731520" y="5303520"/>
            <a:ext cx="2743200" cy="10972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5303520"/>
            <a:ext cx="27432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5532120"/>
            <a:ext cx="2194560" cy="365760"/>
          </a:xfrm>
          <a:prstGeom prst="rect">
            <a:avLst/>
          </a:prstGeom>
          <a:noFill/>
        </p:spPr>
        <p:txBody>
          <a:bodyPr wrap="none">
            <a:spAutoFit/>
          </a:bodyPr>
          <a:lstStyle/>
          <a:p>
            <a:r>
              <a:rPr sz="1400" b="1">
                <a:solidFill>
                  <a:srgbClr val="FFFFFF"/>
                </a:solidFill>
                <a:latin typeface="Inter"/>
              </a:rPr>
              <a:t>3-Tier Intelligence</a:t>
            </a:r>
          </a:p>
        </p:txBody>
      </p:sp>
      <p:sp>
        <p:nvSpPr>
          <p:cNvPr id="11" name="TextBox 10"/>
          <p:cNvSpPr txBox="1"/>
          <p:nvPr/>
        </p:nvSpPr>
        <p:spPr>
          <a:xfrm>
            <a:off x="1005840" y="5943600"/>
            <a:ext cx="2194560" cy="182879"/>
          </a:xfrm>
          <a:prstGeom prst="rect">
            <a:avLst/>
          </a:prstGeom>
          <a:noFill/>
        </p:spPr>
        <p:txBody>
          <a:bodyPr wrap="square">
            <a:spAutoFit/>
          </a:bodyPr>
          <a:lstStyle/>
          <a:p>
            <a:pPr>
              <a:spcAft>
                <a:spcPts val="600"/>
              </a:spcAft>
            </a:pPr>
            <a:r>
              <a:rPr sz="1200">
                <a:solidFill>
                  <a:srgbClr val="CBD5E1"/>
                </a:solidFill>
                <a:latin typeface="Inter"/>
              </a:rPr>
              <a:t>Haiku → Sonnet → Opus</a:t>
            </a:r>
          </a:p>
          <a:p>
            <a:pPr>
              <a:spcAft>
                <a:spcPts val="600"/>
              </a:spcAft>
            </a:pPr>
            <a:r>
              <a:rPr sz="1200">
                <a:solidFill>
                  <a:srgbClr val="CBD5E1"/>
                </a:solidFill>
                <a:latin typeface="Inter"/>
              </a:rPr>
              <a:t>Auto-routes by complexity</a:t>
            </a:r>
          </a:p>
        </p:txBody>
      </p:sp>
      <p:sp>
        <p:nvSpPr>
          <p:cNvPr id="12" name="Rounded Rectangle 11"/>
          <p:cNvSpPr/>
          <p:nvPr/>
        </p:nvSpPr>
        <p:spPr>
          <a:xfrm>
            <a:off x="3749039" y="5303520"/>
            <a:ext cx="2743200" cy="10972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749039" y="5303520"/>
            <a:ext cx="27432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23359" y="5532120"/>
            <a:ext cx="2194560" cy="365760"/>
          </a:xfrm>
          <a:prstGeom prst="rect">
            <a:avLst/>
          </a:prstGeom>
          <a:noFill/>
        </p:spPr>
        <p:txBody>
          <a:bodyPr wrap="none">
            <a:spAutoFit/>
          </a:bodyPr>
          <a:lstStyle/>
          <a:p>
            <a:r>
              <a:rPr sz="1400" b="1">
                <a:solidFill>
                  <a:srgbClr val="FFFFFF"/>
                </a:solidFill>
                <a:latin typeface="Inter"/>
              </a:rPr>
              <a:t>Context-Aware</a:t>
            </a:r>
          </a:p>
        </p:txBody>
      </p:sp>
      <p:sp>
        <p:nvSpPr>
          <p:cNvPr id="15" name="TextBox 14"/>
          <p:cNvSpPr txBox="1"/>
          <p:nvPr/>
        </p:nvSpPr>
        <p:spPr>
          <a:xfrm>
            <a:off x="4023359" y="5943600"/>
            <a:ext cx="2194560" cy="182879"/>
          </a:xfrm>
          <a:prstGeom prst="rect">
            <a:avLst/>
          </a:prstGeom>
          <a:noFill/>
        </p:spPr>
        <p:txBody>
          <a:bodyPr wrap="square">
            <a:spAutoFit/>
          </a:bodyPr>
          <a:lstStyle/>
          <a:p>
            <a:pPr>
              <a:spcAft>
                <a:spcPts val="600"/>
              </a:spcAft>
            </a:pPr>
            <a:r>
              <a:rPr sz="1200">
                <a:solidFill>
                  <a:srgbClr val="CBD5E1"/>
                </a:solidFill>
                <a:latin typeface="Inter"/>
              </a:rPr>
              <a:t>Knows your page, your data,</a:t>
            </a:r>
          </a:p>
          <a:p>
            <a:pPr>
              <a:spcAft>
                <a:spcPts val="600"/>
              </a:spcAft>
            </a:pPr>
            <a:r>
              <a:rPr sz="1200">
                <a:solidFill>
                  <a:srgbClr val="CBD5E1"/>
                </a:solidFill>
                <a:latin typeface="Inter"/>
              </a:rPr>
              <a:t>your event — always</a:t>
            </a:r>
          </a:p>
        </p:txBody>
      </p:sp>
      <p:sp>
        <p:nvSpPr>
          <p:cNvPr id="16" name="Rounded Rectangle 15"/>
          <p:cNvSpPr/>
          <p:nvPr/>
        </p:nvSpPr>
        <p:spPr>
          <a:xfrm>
            <a:off x="6766560" y="5303520"/>
            <a:ext cx="2743200" cy="10972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766560" y="5303520"/>
            <a:ext cx="27432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0" y="5532120"/>
            <a:ext cx="2194560" cy="365760"/>
          </a:xfrm>
          <a:prstGeom prst="rect">
            <a:avLst/>
          </a:prstGeom>
          <a:noFill/>
        </p:spPr>
        <p:txBody>
          <a:bodyPr wrap="none">
            <a:spAutoFit/>
          </a:bodyPr>
          <a:lstStyle/>
          <a:p>
            <a:r>
              <a:rPr sz="1400" b="1">
                <a:solidFill>
                  <a:srgbClr val="FFFFFF"/>
                </a:solidFill>
                <a:latin typeface="Inter"/>
              </a:rPr>
              <a:t>Copy Ready Prompts</a:t>
            </a:r>
          </a:p>
        </p:txBody>
      </p:sp>
      <p:sp>
        <p:nvSpPr>
          <p:cNvPr id="19" name="TextBox 18"/>
          <p:cNvSpPr txBox="1"/>
          <p:nvPr/>
        </p:nvSpPr>
        <p:spPr>
          <a:xfrm>
            <a:off x="7040880" y="5943600"/>
            <a:ext cx="2194560" cy="182879"/>
          </a:xfrm>
          <a:prstGeom prst="rect">
            <a:avLst/>
          </a:prstGeom>
          <a:noFill/>
        </p:spPr>
        <p:txBody>
          <a:bodyPr wrap="square">
            <a:spAutoFit/>
          </a:bodyPr>
          <a:lstStyle/>
          <a:p>
            <a:pPr>
              <a:spcAft>
                <a:spcPts val="600"/>
              </a:spcAft>
            </a:pPr>
            <a:r>
              <a:rPr sz="1200">
                <a:solidFill>
                  <a:srgbClr val="CBD5E1"/>
                </a:solidFill>
                <a:latin typeface="Inter"/>
              </a:rPr>
              <a:t>Every suggestion includes a</a:t>
            </a:r>
          </a:p>
          <a:p>
            <a:pPr>
              <a:spcAft>
                <a:spcPts val="600"/>
              </a:spcAft>
            </a:pPr>
            <a:r>
              <a:rPr sz="1200">
                <a:solidFill>
                  <a:srgbClr val="CBD5E1"/>
                </a:solidFill>
                <a:latin typeface="Inter"/>
              </a:rPr>
              <a:t>prompt for Claude Code</a:t>
            </a:r>
          </a:p>
        </p:txBody>
      </p:sp>
      <p:sp>
        <p:nvSpPr>
          <p:cNvPr id="20" name="Rounded Rectangle 19"/>
          <p:cNvSpPr/>
          <p:nvPr/>
        </p:nvSpPr>
        <p:spPr>
          <a:xfrm>
            <a:off x="7315200" y="914400"/>
            <a:ext cx="4389120" cy="411480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0" y="2788920"/>
            <a:ext cx="4389120" cy="365760"/>
          </a:xfrm>
          <a:prstGeom prst="rect">
            <a:avLst/>
          </a:prstGeom>
          <a:noFill/>
        </p:spPr>
        <p:txBody>
          <a:bodyPr wrap="none">
            <a:spAutoFit/>
          </a:bodyPr>
          <a:lstStyle/>
          <a:p>
            <a:pPr algn="ctr"/>
            <a:r>
              <a:rPr sz="1300">
                <a:solidFill>
                  <a:srgbClr val="94A3B8"/>
                </a:solidFill>
                <a:latin typeface="Inter"/>
              </a:rPr>
              <a:t>[ Cruze Chat Window Screenshot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9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59E0B"/>
                </a:solidFill>
                <a:latin typeface="Inter"/>
              </a:rPr>
              <a:t>Cruze in Action</a:t>
            </a:r>
          </a:p>
        </p:txBody>
      </p:sp>
      <p:sp>
        <p:nvSpPr>
          <p:cNvPr id="5" name="Rectangle 4"/>
          <p:cNvSpPr/>
          <p:nvPr/>
        </p:nvSpPr>
        <p:spPr>
          <a:xfrm>
            <a:off x="731520" y="1463040"/>
            <a:ext cx="1371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2011680"/>
            <a:ext cx="3383280" cy="43891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011680"/>
            <a:ext cx="33832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40280"/>
            <a:ext cx="2834640" cy="365760"/>
          </a:xfrm>
          <a:prstGeom prst="rect">
            <a:avLst/>
          </a:prstGeom>
          <a:noFill/>
        </p:spPr>
        <p:txBody>
          <a:bodyPr wrap="none">
            <a:spAutoFit/>
          </a:bodyPr>
          <a:lstStyle/>
          <a:p>
            <a:r>
              <a:rPr sz="1400" b="1">
                <a:solidFill>
                  <a:srgbClr val="FFFFFF"/>
                </a:solidFill>
                <a:latin typeface="Inter"/>
              </a:rPr>
              <a:t>Step 1 — Ask</a:t>
            </a:r>
          </a:p>
        </p:txBody>
      </p:sp>
      <p:sp>
        <p:nvSpPr>
          <p:cNvPr id="9" name="TextBox 8"/>
          <p:cNvSpPr txBox="1"/>
          <p:nvPr/>
        </p:nvSpPr>
        <p:spPr>
          <a:xfrm>
            <a:off x="1005840" y="2651760"/>
            <a:ext cx="2834640" cy="3474720"/>
          </a:xfrm>
          <a:prstGeom prst="rect">
            <a:avLst/>
          </a:prstGeom>
          <a:noFill/>
        </p:spPr>
        <p:txBody>
          <a:bodyPr wrap="square">
            <a:spAutoFit/>
          </a:bodyPr>
          <a:lstStyle/>
          <a:p>
            <a:pPr>
              <a:spcAft>
                <a:spcPts val="600"/>
              </a:spcAft>
            </a:pPr>
            <a:r>
              <a:rPr sz="1200">
                <a:solidFill>
                  <a:srgbClr val="CBD5E1"/>
                </a:solidFill>
                <a:latin typeface="Inter"/>
              </a:rPr>
              <a:t>"Who's the top salesperson?"</a:t>
            </a:r>
          </a:p>
          <a:p>
            <a:pPr>
              <a:spcAft>
                <a:spcPts val="600"/>
              </a:spcAft>
            </a:pPr>
            <a:endParaRPr sz="1200">
              <a:solidFill>
                <a:srgbClr val="CBD5E1"/>
              </a:solidFill>
              <a:latin typeface="Inter"/>
            </a:endParaRPr>
          </a:p>
          <a:p>
            <a:pPr>
              <a:spcAft>
                <a:spcPts val="600"/>
              </a:spcAft>
            </a:pPr>
            <a:r>
              <a:rPr sz="1200">
                <a:solidFill>
                  <a:srgbClr val="CBD5E1"/>
                </a:solidFill>
                <a:latin typeface="Inter"/>
              </a:rPr>
              <a:t>Cruze instantly pulls from</a:t>
            </a:r>
          </a:p>
          <a:p>
            <a:pPr>
              <a:spcAft>
                <a:spcPts val="600"/>
              </a:spcAft>
            </a:pPr>
            <a:r>
              <a:rPr sz="1200">
                <a:solidFill>
                  <a:srgbClr val="CBD5E1"/>
                </a:solidFill>
                <a:latin typeface="Inter"/>
              </a:rPr>
              <a:t>your live deal data and</a:t>
            </a:r>
          </a:p>
          <a:p>
            <a:pPr>
              <a:spcAft>
                <a:spcPts val="600"/>
              </a:spcAft>
            </a:pPr>
            <a:r>
              <a:rPr sz="1200">
                <a:solidFill>
                  <a:srgbClr val="CBD5E1"/>
                </a:solidFill>
                <a:latin typeface="Inter"/>
              </a:rPr>
              <a:t>responds with ranked results.</a:t>
            </a:r>
          </a:p>
          <a:p>
            <a:pPr>
              <a:spcAft>
                <a:spcPts val="600"/>
              </a:spcAft>
            </a:pPr>
            <a:endParaRPr sz="1200">
              <a:solidFill>
                <a:srgbClr val="CBD5E1"/>
              </a:solidFill>
              <a:latin typeface="Inter"/>
            </a:endParaRPr>
          </a:p>
          <a:p>
            <a:pPr>
              <a:spcAft>
                <a:spcPts val="600"/>
              </a:spcAft>
            </a:pPr>
            <a:r>
              <a:rPr sz="1200">
                <a:solidFill>
                  <a:srgbClr val="CBD5E1"/>
                </a:solidFill>
                <a:latin typeface="Inter"/>
              </a:rPr>
              <a:t>No searching. No filtering.</a:t>
            </a:r>
          </a:p>
          <a:p>
            <a:pPr>
              <a:spcAft>
                <a:spcPts val="600"/>
              </a:spcAft>
            </a:pPr>
            <a:r>
              <a:rPr sz="1200">
                <a:solidFill>
                  <a:srgbClr val="CBD5E1"/>
                </a:solidFill>
                <a:latin typeface="Inter"/>
              </a:rPr>
              <a:t>Just ask.</a:t>
            </a:r>
          </a:p>
        </p:txBody>
      </p:sp>
      <p:sp>
        <p:nvSpPr>
          <p:cNvPr id="10" name="Rounded Rectangle 9"/>
          <p:cNvSpPr/>
          <p:nvPr/>
        </p:nvSpPr>
        <p:spPr>
          <a:xfrm>
            <a:off x="4389120" y="2011680"/>
            <a:ext cx="3383280" cy="43891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2011680"/>
            <a:ext cx="33832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240280"/>
            <a:ext cx="2834640" cy="365760"/>
          </a:xfrm>
          <a:prstGeom prst="rect">
            <a:avLst/>
          </a:prstGeom>
          <a:noFill/>
        </p:spPr>
        <p:txBody>
          <a:bodyPr wrap="none">
            <a:spAutoFit/>
          </a:bodyPr>
          <a:lstStyle/>
          <a:p>
            <a:r>
              <a:rPr sz="1400" b="1">
                <a:solidFill>
                  <a:srgbClr val="FFFFFF"/>
                </a:solidFill>
                <a:latin typeface="Inter"/>
              </a:rPr>
              <a:t>Step 2 — Preview</a:t>
            </a:r>
          </a:p>
        </p:txBody>
      </p:sp>
      <p:sp>
        <p:nvSpPr>
          <p:cNvPr id="13" name="TextBox 12"/>
          <p:cNvSpPr txBox="1"/>
          <p:nvPr/>
        </p:nvSpPr>
        <p:spPr>
          <a:xfrm>
            <a:off x="4663440" y="2651760"/>
            <a:ext cx="2834640" cy="3474720"/>
          </a:xfrm>
          <a:prstGeom prst="rect">
            <a:avLst/>
          </a:prstGeom>
          <a:noFill/>
        </p:spPr>
        <p:txBody>
          <a:bodyPr wrap="square">
            <a:spAutoFit/>
          </a:bodyPr>
          <a:lstStyle/>
          <a:p>
            <a:pPr>
              <a:spcAft>
                <a:spcPts val="600"/>
              </a:spcAft>
            </a:pPr>
            <a:r>
              <a:rPr sz="1200">
                <a:solidFill>
                  <a:srgbClr val="CBD5E1"/>
                </a:solidFill>
                <a:latin typeface="Inter"/>
              </a:rPr>
              <a:t>"Add a salesperson leaderboard"</a:t>
            </a:r>
          </a:p>
          <a:p>
            <a:pPr>
              <a:spcAft>
                <a:spcPts val="600"/>
              </a:spcAft>
            </a:pPr>
            <a:endParaRPr sz="1200">
              <a:solidFill>
                <a:srgbClr val="CBD5E1"/>
              </a:solidFill>
              <a:latin typeface="Inter"/>
            </a:endParaRPr>
          </a:p>
          <a:p>
            <a:pPr>
              <a:spcAft>
                <a:spcPts val="600"/>
              </a:spcAft>
            </a:pPr>
            <a:r>
              <a:rPr sz="1200">
                <a:solidFill>
                  <a:srgbClr val="CBD5E1"/>
                </a:solidFill>
                <a:latin typeface="Inter"/>
              </a:rPr>
              <a:t>Cruze shows a detailed preview</a:t>
            </a:r>
          </a:p>
          <a:p>
            <a:pPr>
              <a:spcAft>
                <a:spcPts val="600"/>
              </a:spcAft>
            </a:pPr>
            <a:r>
              <a:rPr sz="1200">
                <a:solidFill>
                  <a:srgbClr val="CBD5E1"/>
                </a:solidFill>
                <a:latin typeface="Inter"/>
              </a:rPr>
              <a:t>of what he'd build, then waits</a:t>
            </a:r>
          </a:p>
          <a:p>
            <a:pPr>
              <a:spcAft>
                <a:spcPts val="600"/>
              </a:spcAft>
            </a:pPr>
            <a:r>
              <a:rPr sz="1200">
                <a:solidFill>
                  <a:srgbClr val="CBD5E1"/>
                </a:solidFill>
                <a:latin typeface="Inter"/>
              </a:rPr>
              <a:t>for your approval.</a:t>
            </a:r>
          </a:p>
          <a:p>
            <a:pPr>
              <a:spcAft>
                <a:spcPts val="600"/>
              </a:spcAft>
            </a:pPr>
            <a:endParaRPr sz="1200">
              <a:solidFill>
                <a:srgbClr val="CBD5E1"/>
              </a:solidFill>
              <a:latin typeface="Inter"/>
            </a:endParaRPr>
          </a:p>
          <a:p>
            <a:pPr>
              <a:spcAft>
                <a:spcPts val="600"/>
              </a:spcAft>
            </a:pPr>
            <a:r>
              <a:rPr sz="1200">
                <a:solidFill>
                  <a:srgbClr val="CBD5E1"/>
                </a:solidFill>
                <a:latin typeface="Inter"/>
              </a:rPr>
              <a:t>→ Apply it</a:t>
            </a:r>
          </a:p>
          <a:p>
            <a:pPr>
              <a:spcAft>
                <a:spcPts val="600"/>
              </a:spcAft>
            </a:pPr>
            <a:r>
              <a:rPr sz="1200">
                <a:solidFill>
                  <a:srgbClr val="CBD5E1"/>
                </a:solidFill>
                <a:latin typeface="Inter"/>
              </a:rPr>
              <a:t>→ Adjust</a:t>
            </a:r>
          </a:p>
          <a:p>
            <a:pPr>
              <a:spcAft>
                <a:spcPts val="600"/>
              </a:spcAft>
            </a:pPr>
            <a:r>
              <a:rPr sz="1200">
                <a:solidFill>
                  <a:srgbClr val="CBD5E1"/>
                </a:solidFill>
                <a:latin typeface="Inter"/>
              </a:rPr>
              <a:t>→ Start over</a:t>
            </a:r>
          </a:p>
        </p:txBody>
      </p:sp>
      <p:sp>
        <p:nvSpPr>
          <p:cNvPr id="14" name="Rounded Rectangle 13"/>
          <p:cNvSpPr/>
          <p:nvPr/>
        </p:nvSpPr>
        <p:spPr>
          <a:xfrm>
            <a:off x="8046720" y="2011680"/>
            <a:ext cx="3383280" cy="43891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2011680"/>
            <a:ext cx="33832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2240280"/>
            <a:ext cx="2834640" cy="365760"/>
          </a:xfrm>
          <a:prstGeom prst="rect">
            <a:avLst/>
          </a:prstGeom>
          <a:noFill/>
        </p:spPr>
        <p:txBody>
          <a:bodyPr wrap="none">
            <a:spAutoFit/>
          </a:bodyPr>
          <a:lstStyle/>
          <a:p>
            <a:r>
              <a:rPr sz="1400" b="1">
                <a:solidFill>
                  <a:srgbClr val="FFFFFF"/>
                </a:solidFill>
                <a:latin typeface="Inter"/>
              </a:rPr>
              <a:t>Step 3 — Build</a:t>
            </a:r>
          </a:p>
        </p:txBody>
      </p:sp>
      <p:sp>
        <p:nvSpPr>
          <p:cNvPr id="17" name="TextBox 16"/>
          <p:cNvSpPr txBox="1"/>
          <p:nvPr/>
        </p:nvSpPr>
        <p:spPr>
          <a:xfrm>
            <a:off x="8321040" y="2651760"/>
            <a:ext cx="2834640" cy="3474720"/>
          </a:xfrm>
          <a:prstGeom prst="rect">
            <a:avLst/>
          </a:prstGeom>
          <a:noFill/>
        </p:spPr>
        <p:txBody>
          <a:bodyPr wrap="square">
            <a:spAutoFit/>
          </a:bodyPr>
          <a:lstStyle/>
          <a:p>
            <a:pPr>
              <a:spcAft>
                <a:spcPts val="600"/>
              </a:spcAft>
            </a:pPr>
            <a:r>
              <a:rPr sz="1200">
                <a:solidFill>
                  <a:srgbClr val="CBD5E1"/>
                </a:solidFill>
                <a:latin typeface="Inter"/>
              </a:rPr>
              <a:t>Every Tier 2 and Tier 3</a:t>
            </a:r>
          </a:p>
          <a:p>
            <a:pPr>
              <a:spcAft>
                <a:spcPts val="600"/>
              </a:spcAft>
            </a:pPr>
            <a:r>
              <a:rPr sz="1200">
                <a:solidFill>
                  <a:srgbClr val="CBD5E1"/>
                </a:solidFill>
                <a:latin typeface="Inter"/>
              </a:rPr>
              <a:t>response includes a</a:t>
            </a:r>
          </a:p>
          <a:p>
            <a:pPr>
              <a:spcAft>
                <a:spcPts val="600"/>
              </a:spcAft>
            </a:pPr>
            <a:endParaRPr sz="1200">
              <a:solidFill>
                <a:srgbClr val="CBD5E1"/>
              </a:solidFill>
              <a:latin typeface="Inter"/>
            </a:endParaRPr>
          </a:p>
          <a:p>
            <a:pPr>
              <a:spcAft>
                <a:spcPts val="600"/>
              </a:spcAft>
            </a:pPr>
            <a:r>
              <a:rPr sz="1200">
                <a:solidFill>
                  <a:srgbClr val="CBD5E1"/>
                </a:solidFill>
                <a:latin typeface="Inter"/>
              </a:rPr>
              <a:t>Copy Ready Prompt</a:t>
            </a:r>
          </a:p>
          <a:p>
            <a:pPr>
              <a:spcAft>
                <a:spcPts val="600"/>
              </a:spcAft>
            </a:pPr>
            <a:r>
              <a:rPr sz="1200">
                <a:solidFill>
                  <a:srgbClr val="CBD5E1"/>
                </a:solidFill>
                <a:latin typeface="Inter"/>
              </a:rPr>
              <a:t>for Claude Code</a:t>
            </a:r>
          </a:p>
          <a:p>
            <a:pPr>
              <a:spcAft>
                <a:spcPts val="600"/>
              </a:spcAft>
            </a:pPr>
            <a:endParaRPr sz="1200">
              <a:solidFill>
                <a:srgbClr val="CBD5E1"/>
              </a:solidFill>
              <a:latin typeface="Inter"/>
            </a:endParaRPr>
          </a:p>
          <a:p>
            <a:pPr>
              <a:spcAft>
                <a:spcPts val="600"/>
              </a:spcAft>
            </a:pPr>
            <a:r>
              <a:rPr sz="1200">
                <a:solidFill>
                  <a:srgbClr val="CBD5E1"/>
                </a:solidFill>
                <a:latin typeface="Inter"/>
              </a:rPr>
              <a:t>Paste it. Build it. Ship it.</a:t>
            </a:r>
          </a:p>
          <a:p>
            <a:pPr>
              <a:spcAft>
                <a:spcPts val="600"/>
              </a:spcAft>
            </a:pPr>
            <a:r>
              <a:rPr sz="1200">
                <a:solidFill>
                  <a:srgbClr val="CBD5E1"/>
                </a:solidFill>
                <a:latin typeface="Inter"/>
              </a:rPr>
              <a:t>From idea to production</a:t>
            </a:r>
          </a:p>
          <a:p>
            <a:pPr>
              <a:spcAft>
                <a:spcPts val="600"/>
              </a:spcAft>
            </a:pPr>
            <a:r>
              <a:rPr sz="1200">
                <a:solidFill>
                  <a:srgbClr val="CBD5E1"/>
                </a:solidFill>
                <a:latin typeface="Inter"/>
              </a:rPr>
              <a:t>in minutes.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10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Built for Reliability</a:t>
            </a:r>
          </a:p>
        </p:txBody>
      </p:sp>
      <p:sp>
        <p:nvSpPr>
          <p:cNvPr id="5" name="Rectangle 4"/>
          <p:cNvSpPr/>
          <p:nvPr/>
        </p:nvSpPr>
        <p:spPr>
          <a:xfrm>
            <a:off x="731520" y="146304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2011680"/>
            <a:ext cx="2560320" cy="25603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011680"/>
            <a:ext cx="25603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40280"/>
            <a:ext cx="2011679" cy="365760"/>
          </a:xfrm>
          <a:prstGeom prst="rect">
            <a:avLst/>
          </a:prstGeom>
          <a:noFill/>
        </p:spPr>
        <p:txBody>
          <a:bodyPr wrap="none">
            <a:spAutoFit/>
          </a:bodyPr>
          <a:lstStyle/>
          <a:p>
            <a:r>
              <a:rPr sz="1400" b="1">
                <a:solidFill>
                  <a:srgbClr val="FFFFFF"/>
                </a:solidFill>
                <a:latin typeface="Inter"/>
              </a:rPr>
              <a:t>Next.js 15</a:t>
            </a:r>
          </a:p>
        </p:txBody>
      </p:sp>
      <p:sp>
        <p:nvSpPr>
          <p:cNvPr id="9" name="TextBox 8"/>
          <p:cNvSpPr txBox="1"/>
          <p:nvPr/>
        </p:nvSpPr>
        <p:spPr>
          <a:xfrm>
            <a:off x="1005840" y="2651760"/>
            <a:ext cx="2011679" cy="1645919"/>
          </a:xfrm>
          <a:prstGeom prst="rect">
            <a:avLst/>
          </a:prstGeom>
          <a:noFill/>
        </p:spPr>
        <p:txBody>
          <a:bodyPr wrap="square">
            <a:spAutoFit/>
          </a:bodyPr>
          <a:lstStyle/>
          <a:p>
            <a:pPr>
              <a:spcAft>
                <a:spcPts val="600"/>
              </a:spcAft>
            </a:pPr>
            <a:r>
              <a:rPr sz="1200">
                <a:solidFill>
                  <a:srgbClr val="CBD5E1"/>
                </a:solidFill>
                <a:latin typeface="Inter"/>
              </a:rPr>
              <a:t>React Server Components</a:t>
            </a:r>
          </a:p>
          <a:p>
            <a:pPr>
              <a:spcAft>
                <a:spcPts val="600"/>
              </a:spcAft>
            </a:pPr>
            <a:r>
              <a:rPr sz="1200">
                <a:solidFill>
                  <a:srgbClr val="CBD5E1"/>
                </a:solidFill>
                <a:latin typeface="Inter"/>
              </a:rPr>
              <a:t>App Router</a:t>
            </a:r>
          </a:p>
          <a:p>
            <a:pPr>
              <a:spcAft>
                <a:spcPts val="600"/>
              </a:spcAft>
            </a:pPr>
            <a:r>
              <a:rPr sz="1200">
                <a:solidFill>
                  <a:srgbClr val="CBD5E1"/>
                </a:solidFill>
                <a:latin typeface="Inter"/>
              </a:rPr>
              <a:t>TypeScript throughout</a:t>
            </a:r>
          </a:p>
          <a:p>
            <a:pPr>
              <a:spcAft>
                <a:spcPts val="600"/>
              </a:spcAft>
            </a:pPr>
            <a:r>
              <a:rPr sz="1200">
                <a:solidFill>
                  <a:srgbClr val="CBD5E1"/>
                </a:solidFill>
                <a:latin typeface="Inter"/>
              </a:rPr>
              <a:t>Deployed on Vercel</a:t>
            </a:r>
          </a:p>
        </p:txBody>
      </p:sp>
      <p:sp>
        <p:nvSpPr>
          <p:cNvPr id="10" name="Rounded Rectangle 9"/>
          <p:cNvSpPr/>
          <p:nvPr/>
        </p:nvSpPr>
        <p:spPr>
          <a:xfrm>
            <a:off x="3566160" y="2011680"/>
            <a:ext cx="2560320" cy="25603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66160" y="2011680"/>
            <a:ext cx="25603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0" y="2240280"/>
            <a:ext cx="2011679" cy="365760"/>
          </a:xfrm>
          <a:prstGeom prst="rect">
            <a:avLst/>
          </a:prstGeom>
          <a:noFill/>
        </p:spPr>
        <p:txBody>
          <a:bodyPr wrap="none">
            <a:spAutoFit/>
          </a:bodyPr>
          <a:lstStyle/>
          <a:p>
            <a:r>
              <a:rPr sz="1400" b="1">
                <a:solidFill>
                  <a:srgbClr val="FFFFFF"/>
                </a:solidFill>
                <a:latin typeface="Inter"/>
              </a:rPr>
              <a:t>Supabase</a:t>
            </a:r>
          </a:p>
        </p:txBody>
      </p:sp>
      <p:sp>
        <p:nvSpPr>
          <p:cNvPr id="13" name="TextBox 12"/>
          <p:cNvSpPr txBox="1"/>
          <p:nvPr/>
        </p:nvSpPr>
        <p:spPr>
          <a:xfrm>
            <a:off x="3840480" y="2651760"/>
            <a:ext cx="2011679" cy="1645919"/>
          </a:xfrm>
          <a:prstGeom prst="rect">
            <a:avLst/>
          </a:prstGeom>
          <a:noFill/>
        </p:spPr>
        <p:txBody>
          <a:bodyPr wrap="square">
            <a:spAutoFit/>
          </a:bodyPr>
          <a:lstStyle/>
          <a:p>
            <a:pPr>
              <a:spcAft>
                <a:spcPts val="600"/>
              </a:spcAft>
            </a:pPr>
            <a:r>
              <a:rPr sz="1200">
                <a:solidFill>
                  <a:srgbClr val="CBD5E1"/>
                </a:solidFill>
                <a:latin typeface="Inter"/>
              </a:rPr>
              <a:t>PostgreSQL database</a:t>
            </a:r>
          </a:p>
          <a:p>
            <a:pPr>
              <a:spcAft>
                <a:spcPts val="600"/>
              </a:spcAft>
            </a:pPr>
            <a:r>
              <a:rPr sz="1200">
                <a:solidFill>
                  <a:srgbClr val="CBD5E1"/>
                </a:solidFill>
                <a:latin typeface="Inter"/>
              </a:rPr>
              <a:t>Row-level security</a:t>
            </a:r>
          </a:p>
          <a:p>
            <a:pPr>
              <a:spcAft>
                <a:spcPts val="600"/>
              </a:spcAft>
            </a:pPr>
            <a:r>
              <a:rPr sz="1200">
                <a:solidFill>
                  <a:srgbClr val="CBD5E1"/>
                </a:solidFill>
                <a:latin typeface="Inter"/>
              </a:rPr>
              <a:t>Real-time subscriptions</a:t>
            </a:r>
          </a:p>
          <a:p>
            <a:pPr>
              <a:spcAft>
                <a:spcPts val="600"/>
              </a:spcAft>
            </a:pPr>
            <a:r>
              <a:rPr sz="1200">
                <a:solidFill>
                  <a:srgbClr val="CBD5E1"/>
                </a:solidFill>
                <a:latin typeface="Inter"/>
              </a:rPr>
              <a:t>Auth &amp; file storage</a:t>
            </a:r>
          </a:p>
        </p:txBody>
      </p:sp>
      <p:sp>
        <p:nvSpPr>
          <p:cNvPr id="14" name="Rounded Rectangle 13"/>
          <p:cNvSpPr/>
          <p:nvPr/>
        </p:nvSpPr>
        <p:spPr>
          <a:xfrm>
            <a:off x="6400800" y="2011680"/>
            <a:ext cx="2560320" cy="25603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2011680"/>
            <a:ext cx="25603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2240280"/>
            <a:ext cx="2011679" cy="365760"/>
          </a:xfrm>
          <a:prstGeom prst="rect">
            <a:avLst/>
          </a:prstGeom>
          <a:noFill/>
        </p:spPr>
        <p:txBody>
          <a:bodyPr wrap="none">
            <a:spAutoFit/>
          </a:bodyPr>
          <a:lstStyle/>
          <a:p>
            <a:r>
              <a:rPr sz="1400" b="1">
                <a:solidFill>
                  <a:srgbClr val="FFFFFF"/>
                </a:solidFill>
                <a:latin typeface="Inter"/>
              </a:rPr>
              <a:t>Google Sheets</a:t>
            </a:r>
          </a:p>
        </p:txBody>
      </p:sp>
      <p:sp>
        <p:nvSpPr>
          <p:cNvPr id="17" name="TextBox 16"/>
          <p:cNvSpPr txBox="1"/>
          <p:nvPr/>
        </p:nvSpPr>
        <p:spPr>
          <a:xfrm>
            <a:off x="6675120" y="2651760"/>
            <a:ext cx="2011679" cy="1645919"/>
          </a:xfrm>
          <a:prstGeom prst="rect">
            <a:avLst/>
          </a:prstGeom>
          <a:noFill/>
        </p:spPr>
        <p:txBody>
          <a:bodyPr wrap="square">
            <a:spAutoFit/>
          </a:bodyPr>
          <a:lstStyle/>
          <a:p>
            <a:pPr>
              <a:spcAft>
                <a:spcPts val="600"/>
              </a:spcAft>
            </a:pPr>
            <a:r>
              <a:rPr sz="1200">
                <a:solidFill>
                  <a:srgbClr val="CBD5E1"/>
                </a:solidFill>
                <a:latin typeface="Inter"/>
              </a:rPr>
              <a:t>Legacy data import</a:t>
            </a:r>
          </a:p>
          <a:p>
            <a:pPr>
              <a:spcAft>
                <a:spcPts val="600"/>
              </a:spcAft>
            </a:pPr>
            <a:r>
              <a:rPr sz="1200">
                <a:solidFill>
                  <a:srgbClr val="CBD5E1"/>
                </a:solidFill>
                <a:latin typeface="Inter"/>
              </a:rPr>
              <a:t>Bi-directional sync</a:t>
            </a:r>
          </a:p>
          <a:p>
            <a:pPr>
              <a:spcAft>
                <a:spcPts val="600"/>
              </a:spcAft>
            </a:pPr>
            <a:r>
              <a:rPr sz="1200">
                <a:solidFill>
                  <a:srgbClr val="CBD5E1"/>
                </a:solidFill>
                <a:latin typeface="Inter"/>
              </a:rPr>
              <a:t>Familiar interface for</a:t>
            </a:r>
          </a:p>
          <a:p>
            <a:pPr>
              <a:spcAft>
                <a:spcPts val="600"/>
              </a:spcAft>
            </a:pPr>
            <a:r>
              <a:rPr sz="1200">
                <a:solidFill>
                  <a:srgbClr val="CBD5E1"/>
                </a:solidFill>
                <a:latin typeface="Inter"/>
              </a:rPr>
              <a:t>field team data entry</a:t>
            </a:r>
          </a:p>
        </p:txBody>
      </p:sp>
      <p:sp>
        <p:nvSpPr>
          <p:cNvPr id="18" name="Rounded Rectangle 17"/>
          <p:cNvSpPr/>
          <p:nvPr/>
        </p:nvSpPr>
        <p:spPr>
          <a:xfrm>
            <a:off x="9235440" y="2011680"/>
            <a:ext cx="2560320" cy="25603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235440" y="2011680"/>
            <a:ext cx="25603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09760" y="2240280"/>
            <a:ext cx="2011679" cy="365760"/>
          </a:xfrm>
          <a:prstGeom prst="rect">
            <a:avLst/>
          </a:prstGeom>
          <a:noFill/>
        </p:spPr>
        <p:txBody>
          <a:bodyPr wrap="none">
            <a:spAutoFit/>
          </a:bodyPr>
          <a:lstStyle/>
          <a:p>
            <a:r>
              <a:rPr sz="1400" b="1">
                <a:solidFill>
                  <a:srgbClr val="FFFFFF"/>
                </a:solidFill>
                <a:latin typeface="Inter"/>
              </a:rPr>
              <a:t>Claude AI</a:t>
            </a:r>
          </a:p>
        </p:txBody>
      </p:sp>
      <p:sp>
        <p:nvSpPr>
          <p:cNvPr id="21" name="TextBox 20"/>
          <p:cNvSpPr txBox="1"/>
          <p:nvPr/>
        </p:nvSpPr>
        <p:spPr>
          <a:xfrm>
            <a:off x="9509760" y="2651760"/>
            <a:ext cx="2011679" cy="1645919"/>
          </a:xfrm>
          <a:prstGeom prst="rect">
            <a:avLst/>
          </a:prstGeom>
          <a:noFill/>
        </p:spPr>
        <p:txBody>
          <a:bodyPr wrap="square">
            <a:spAutoFit/>
          </a:bodyPr>
          <a:lstStyle/>
          <a:p>
            <a:pPr>
              <a:spcAft>
                <a:spcPts val="600"/>
              </a:spcAft>
            </a:pPr>
            <a:r>
              <a:rPr sz="1200">
                <a:solidFill>
                  <a:srgbClr val="CBD5E1"/>
                </a:solidFill>
                <a:latin typeface="Inter"/>
              </a:rPr>
              <a:t>3-tier routing system</a:t>
            </a:r>
          </a:p>
          <a:p>
            <a:pPr>
              <a:spcAft>
                <a:spcPts val="600"/>
              </a:spcAft>
            </a:pPr>
            <a:r>
              <a:rPr sz="1200">
                <a:solidFill>
                  <a:srgbClr val="CBD5E1"/>
                </a:solidFill>
                <a:latin typeface="Inter"/>
              </a:rPr>
              <a:t>Haiku, Sonnet, Opus</a:t>
            </a:r>
          </a:p>
          <a:p>
            <a:pPr>
              <a:spcAft>
                <a:spcPts val="600"/>
              </a:spcAft>
            </a:pPr>
            <a:r>
              <a:rPr sz="1200">
                <a:solidFill>
                  <a:srgbClr val="CBD5E1"/>
                </a:solidFill>
                <a:latin typeface="Inter"/>
              </a:rPr>
              <a:t>Context-aware responses</a:t>
            </a:r>
          </a:p>
          <a:p>
            <a:pPr>
              <a:spcAft>
                <a:spcPts val="600"/>
              </a:spcAft>
            </a:pPr>
            <a:r>
              <a:rPr sz="1200">
                <a:solidFill>
                  <a:srgbClr val="CBD5E1"/>
                </a:solidFill>
                <a:latin typeface="Inter"/>
              </a:rPr>
              <a:t>Vercel AI SDK streaming</a:t>
            </a:r>
          </a:p>
        </p:txBody>
      </p:sp>
      <p:sp>
        <p:nvSpPr>
          <p:cNvPr id="22" name="Rounded Rectangle 21"/>
          <p:cNvSpPr/>
          <p:nvPr/>
        </p:nvSpPr>
        <p:spPr>
          <a:xfrm>
            <a:off x="731520" y="5029200"/>
            <a:ext cx="10698480" cy="13716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 y="5029200"/>
            <a:ext cx="1069848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5257800"/>
            <a:ext cx="10149840" cy="365760"/>
          </a:xfrm>
          <a:prstGeom prst="rect">
            <a:avLst/>
          </a:prstGeom>
          <a:noFill/>
        </p:spPr>
        <p:txBody>
          <a:bodyPr wrap="none">
            <a:spAutoFit/>
          </a:bodyPr>
          <a:lstStyle/>
          <a:p>
            <a:r>
              <a:rPr sz="1400" b="1">
                <a:solidFill>
                  <a:srgbClr val="FFFFFF"/>
                </a:solidFill>
                <a:latin typeface="Inter"/>
              </a:rPr>
              <a:t>By the Numbers</a:t>
            </a:r>
          </a:p>
        </p:txBody>
      </p:sp>
      <p:sp>
        <p:nvSpPr>
          <p:cNvPr id="25" name="TextBox 24"/>
          <p:cNvSpPr txBox="1"/>
          <p:nvPr/>
        </p:nvSpPr>
        <p:spPr>
          <a:xfrm>
            <a:off x="1005840" y="5669280"/>
            <a:ext cx="10149840" cy="457200"/>
          </a:xfrm>
          <a:prstGeom prst="rect">
            <a:avLst/>
          </a:prstGeom>
          <a:noFill/>
        </p:spPr>
        <p:txBody>
          <a:bodyPr wrap="square">
            <a:spAutoFit/>
          </a:bodyPr>
          <a:lstStyle/>
          <a:p>
            <a:pPr>
              <a:spcAft>
                <a:spcPts val="600"/>
              </a:spcAft>
            </a:pPr>
            <a:r>
              <a:rPr sz="1200">
                <a:solidFill>
                  <a:srgbClr val="CBD5E1"/>
                </a:solidFill>
                <a:latin typeface="Inter"/>
              </a:rPr>
              <a:t>12 modules  •  50+ database tables  •  Real-time sync &lt; 500ms  •  100/100 chatbot test score  •  Mobile responsive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11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The Difference We're Seeing</a:t>
            </a:r>
          </a:p>
        </p:txBody>
      </p:sp>
      <p:sp>
        <p:nvSpPr>
          <p:cNvPr id="5" name="Rectangle 4"/>
          <p:cNvSpPr/>
          <p:nvPr/>
        </p:nvSpPr>
        <p:spPr>
          <a:xfrm>
            <a:off x="731520" y="1463040"/>
            <a:ext cx="137160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2011680"/>
            <a:ext cx="5029200" cy="4114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011680"/>
            <a:ext cx="502920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40280"/>
            <a:ext cx="4480560" cy="365760"/>
          </a:xfrm>
          <a:prstGeom prst="rect">
            <a:avLst/>
          </a:prstGeom>
          <a:noFill/>
        </p:spPr>
        <p:txBody>
          <a:bodyPr wrap="none">
            <a:spAutoFit/>
          </a:bodyPr>
          <a:lstStyle/>
          <a:p>
            <a:r>
              <a:rPr sz="1400" b="1">
                <a:solidFill>
                  <a:srgbClr val="FFFFFF"/>
                </a:solidFill>
                <a:latin typeface="Inter"/>
              </a:rPr>
              <a:t>Before — Manual Process</a:t>
            </a:r>
          </a:p>
        </p:txBody>
      </p:sp>
      <p:sp>
        <p:nvSpPr>
          <p:cNvPr id="9" name="TextBox 8"/>
          <p:cNvSpPr txBox="1"/>
          <p:nvPr/>
        </p:nvSpPr>
        <p:spPr>
          <a:xfrm>
            <a:off x="1005840" y="2651760"/>
            <a:ext cx="4480560" cy="3200400"/>
          </a:xfrm>
          <a:prstGeom prst="rect">
            <a:avLst/>
          </a:prstGeom>
          <a:noFill/>
        </p:spPr>
        <p:txBody>
          <a:bodyPr wrap="square">
            <a:spAutoFit/>
          </a:bodyPr>
          <a:lstStyle/>
          <a:p>
            <a:pPr>
              <a:spcAft>
                <a:spcPts val="600"/>
              </a:spcAft>
            </a:pPr>
            <a:r>
              <a:rPr sz="1200">
                <a:solidFill>
                  <a:srgbClr val="CBD5E1"/>
                </a:solidFill>
                <a:latin typeface="Inter"/>
              </a:rPr>
              <a:t>24-hour data delay</a:t>
            </a:r>
          </a:p>
          <a:p>
            <a:pPr>
              <a:spcAft>
                <a:spcPts val="600"/>
              </a:spcAft>
            </a:pPr>
            <a:r>
              <a:rPr sz="1200">
                <a:solidFill>
                  <a:srgbClr val="CBD5E1"/>
                </a:solidFill>
                <a:latin typeface="Inter"/>
              </a:rPr>
              <a:t>30+ min daily spreadsheet management</a:t>
            </a:r>
          </a:p>
          <a:p>
            <a:pPr>
              <a:spcAft>
                <a:spcPts val="600"/>
              </a:spcAft>
            </a:pPr>
            <a:r>
              <a:rPr sz="1200">
                <a:solidFill>
                  <a:srgbClr val="CBD5E1"/>
                </a:solidFill>
                <a:latin typeface="Inter"/>
              </a:rPr>
              <a:t>Frequent formula errors</a:t>
            </a:r>
          </a:p>
          <a:p>
            <a:pPr>
              <a:spcAft>
                <a:spcPts val="600"/>
              </a:spcAft>
            </a:pPr>
            <a:r>
              <a:rPr sz="1200">
                <a:solidFill>
                  <a:srgbClr val="CBD5E1"/>
                </a:solidFill>
                <a:latin typeface="Inter"/>
              </a:rPr>
              <a:t>No visibility during live events</a:t>
            </a:r>
          </a:p>
          <a:p>
            <a:pPr>
              <a:spcAft>
                <a:spcPts val="600"/>
              </a:spcAft>
            </a:pPr>
            <a:r>
              <a:rPr sz="1200">
                <a:solidFill>
                  <a:srgbClr val="CBD5E1"/>
                </a:solidFill>
                <a:latin typeface="Inter"/>
              </a:rPr>
              <a:t>No team engagement or motivation</a:t>
            </a:r>
          </a:p>
          <a:p>
            <a:pPr>
              <a:spcAft>
                <a:spcPts val="600"/>
              </a:spcAft>
            </a:pPr>
            <a:r>
              <a:rPr sz="1200">
                <a:solidFill>
                  <a:srgbClr val="CBD5E1"/>
                </a:solidFill>
                <a:latin typeface="Inter"/>
              </a:rPr>
              <a:t>Zero AI assistance</a:t>
            </a:r>
          </a:p>
          <a:p>
            <a:pPr>
              <a:spcAft>
                <a:spcPts val="600"/>
              </a:spcAft>
            </a:pPr>
            <a:endParaRPr sz="1200">
              <a:solidFill>
                <a:srgbClr val="CBD5E1"/>
              </a:solidFill>
              <a:latin typeface="Inter"/>
            </a:endParaRPr>
          </a:p>
          <a:p>
            <a:pPr>
              <a:spcAft>
                <a:spcPts val="600"/>
              </a:spcAft>
            </a:pPr>
            <a:r>
              <a:rPr sz="1200">
                <a:solidFill>
                  <a:srgbClr val="CBD5E1"/>
                </a:solidFill>
                <a:latin typeface="Inter"/>
              </a:rPr>
              <a:t>Scattered across 8+ files per event</a:t>
            </a:r>
          </a:p>
        </p:txBody>
      </p:sp>
      <p:sp>
        <p:nvSpPr>
          <p:cNvPr id="10" name="Rounded Rectangle 9"/>
          <p:cNvSpPr/>
          <p:nvPr/>
        </p:nvSpPr>
        <p:spPr>
          <a:xfrm>
            <a:off x="6400800" y="2011680"/>
            <a:ext cx="5029200" cy="4114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2011680"/>
            <a:ext cx="50292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2240280"/>
            <a:ext cx="4480560" cy="365760"/>
          </a:xfrm>
          <a:prstGeom prst="rect">
            <a:avLst/>
          </a:prstGeom>
          <a:noFill/>
        </p:spPr>
        <p:txBody>
          <a:bodyPr wrap="none">
            <a:spAutoFit/>
          </a:bodyPr>
          <a:lstStyle/>
          <a:p>
            <a:r>
              <a:rPr sz="1400" b="1">
                <a:solidFill>
                  <a:srgbClr val="FFFFFF"/>
                </a:solidFill>
                <a:latin typeface="Inter"/>
              </a:rPr>
              <a:t>After — Mission Control</a:t>
            </a:r>
          </a:p>
        </p:txBody>
      </p:sp>
      <p:sp>
        <p:nvSpPr>
          <p:cNvPr id="13" name="TextBox 12"/>
          <p:cNvSpPr txBox="1"/>
          <p:nvPr/>
        </p:nvSpPr>
        <p:spPr>
          <a:xfrm>
            <a:off x="6675120" y="2651760"/>
            <a:ext cx="4480560" cy="3200400"/>
          </a:xfrm>
          <a:prstGeom prst="rect">
            <a:avLst/>
          </a:prstGeom>
          <a:noFill/>
        </p:spPr>
        <p:txBody>
          <a:bodyPr wrap="square">
            <a:spAutoFit/>
          </a:bodyPr>
          <a:lstStyle/>
          <a:p>
            <a:pPr>
              <a:spcAft>
                <a:spcPts val="600"/>
              </a:spcAft>
            </a:pPr>
            <a:r>
              <a:rPr sz="1200">
                <a:solidFill>
                  <a:srgbClr val="CBD5E1"/>
                </a:solidFill>
                <a:latin typeface="Inter"/>
              </a:rPr>
              <a:t>Real-time data (&lt; 500ms sync)</a:t>
            </a:r>
          </a:p>
          <a:p>
            <a:pPr>
              <a:spcAft>
                <a:spcPts val="600"/>
              </a:spcAft>
            </a:pPr>
            <a:r>
              <a:rPr sz="1200">
                <a:solidFill>
                  <a:srgbClr val="CBD5E1"/>
                </a:solidFill>
                <a:latin typeface="Inter"/>
              </a:rPr>
              <a:t>Zero manual calculation</a:t>
            </a:r>
          </a:p>
          <a:p>
            <a:pPr>
              <a:spcAft>
                <a:spcPts val="600"/>
              </a:spcAft>
            </a:pPr>
            <a:r>
              <a:rPr sz="1200">
                <a:solidFill>
                  <a:srgbClr val="CBD5E1"/>
                </a:solidFill>
                <a:latin typeface="Inter"/>
              </a:rPr>
              <a:t>Automated accuracy — no formula errors</a:t>
            </a:r>
          </a:p>
          <a:p>
            <a:pPr>
              <a:spcAft>
                <a:spcPts val="600"/>
              </a:spcAft>
            </a:pPr>
            <a:r>
              <a:rPr sz="1200">
                <a:solidFill>
                  <a:srgbClr val="CBD5E1"/>
                </a:solidFill>
                <a:latin typeface="Inter"/>
              </a:rPr>
              <a:t>Live visibility from any device</a:t>
            </a:r>
          </a:p>
          <a:p>
            <a:pPr>
              <a:spcAft>
                <a:spcPts val="600"/>
              </a:spcAft>
            </a:pPr>
            <a:r>
              <a:rPr sz="1200">
                <a:solidFill>
                  <a:srgbClr val="CBD5E1"/>
                </a:solidFill>
                <a:latin typeface="Inter"/>
              </a:rPr>
              <a:t>Gamification driving 76% warranty pen.</a:t>
            </a:r>
          </a:p>
          <a:p>
            <a:pPr>
              <a:spcAft>
                <a:spcPts val="600"/>
              </a:spcAft>
            </a:pPr>
            <a:r>
              <a:rPr sz="1200">
                <a:solidFill>
                  <a:srgbClr val="CBD5E1"/>
                </a:solidFill>
                <a:latin typeface="Inter"/>
              </a:rPr>
              <a:t>Cruze AI concierge at your fingertips</a:t>
            </a:r>
          </a:p>
          <a:p>
            <a:pPr>
              <a:spcAft>
                <a:spcPts val="600"/>
              </a:spcAft>
            </a:pPr>
            <a:endParaRPr sz="1200">
              <a:solidFill>
                <a:srgbClr val="CBD5E1"/>
              </a:solidFill>
              <a:latin typeface="Inter"/>
            </a:endParaRPr>
          </a:p>
          <a:p>
            <a:pPr>
              <a:spcAft>
                <a:spcPts val="600"/>
              </a:spcAft>
            </a:pPr>
            <a:r>
              <a:rPr sz="1200">
                <a:solidFill>
                  <a:srgbClr val="CBD5E1"/>
                </a:solidFill>
                <a:latin typeface="Inter"/>
              </a:rPr>
              <a:t>One dashboard. One source of truth.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12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Where We're Going Next</a:t>
            </a:r>
          </a:p>
        </p:txBody>
      </p:sp>
      <p:sp>
        <p:nvSpPr>
          <p:cNvPr id="5" name="Rectangle 4"/>
          <p:cNvSpPr/>
          <p:nvPr/>
        </p:nvSpPr>
        <p:spPr>
          <a:xfrm>
            <a:off x="731520" y="146304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9144000" cy="731520"/>
          </a:xfrm>
          <a:prstGeom prst="rect">
            <a:avLst/>
          </a:prstGeom>
          <a:noFill/>
        </p:spPr>
        <p:txBody>
          <a:bodyPr wrap="square">
            <a:spAutoFit/>
          </a:bodyPr>
          <a:lstStyle/>
          <a:p>
            <a:r>
              <a:rPr sz="1800">
                <a:solidFill>
                  <a:srgbClr val="CBD5E1"/>
                </a:solidFill>
                <a:latin typeface="Inter"/>
              </a:rPr>
              <a:t>The roadmap for Q2 – Q4 2026</a:t>
            </a:r>
          </a:p>
        </p:txBody>
      </p:sp>
      <p:sp>
        <p:nvSpPr>
          <p:cNvPr id="7" name="TextBox 6"/>
          <p:cNvSpPr txBox="1"/>
          <p:nvPr/>
        </p:nvSpPr>
        <p:spPr>
          <a:xfrm>
            <a:off x="731520" y="2377440"/>
            <a:ext cx="2011680" cy="274320"/>
          </a:xfrm>
          <a:prstGeom prst="rect">
            <a:avLst/>
          </a:prstGeom>
          <a:noFill/>
        </p:spPr>
        <p:txBody>
          <a:bodyPr wrap="none">
            <a:spAutoFit/>
          </a:bodyPr>
          <a:lstStyle/>
          <a:p>
            <a:pPr algn="ctr"/>
            <a:r>
              <a:rPr sz="1100" b="1">
                <a:solidFill>
                  <a:srgbClr val="3B82F6"/>
                </a:solidFill>
                <a:latin typeface="Inter"/>
              </a:rPr>
              <a:t>Q2 2026</a:t>
            </a:r>
          </a:p>
        </p:txBody>
      </p:sp>
      <p:sp>
        <p:nvSpPr>
          <p:cNvPr id="8" name="Rounded Rectangle 7"/>
          <p:cNvSpPr/>
          <p:nvPr/>
        </p:nvSpPr>
        <p:spPr>
          <a:xfrm>
            <a:off x="731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2743200"/>
            <a:ext cx="201168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971800"/>
            <a:ext cx="1463040" cy="365760"/>
          </a:xfrm>
          <a:prstGeom prst="rect">
            <a:avLst/>
          </a:prstGeom>
          <a:noFill/>
        </p:spPr>
        <p:txBody>
          <a:bodyPr wrap="none">
            <a:spAutoFit/>
          </a:bodyPr>
          <a:lstStyle/>
          <a:p>
            <a:r>
              <a:rPr sz="1400" b="1">
                <a:solidFill>
                  <a:srgbClr val="FFFFFF"/>
                </a:solidFill>
                <a:latin typeface="Inter"/>
              </a:rPr>
              <a:t>GoHighLevel
Integration</a:t>
            </a:r>
          </a:p>
        </p:txBody>
      </p:sp>
      <p:sp>
        <p:nvSpPr>
          <p:cNvPr id="11" name="TextBox 10"/>
          <p:cNvSpPr txBox="1"/>
          <p:nvPr/>
        </p:nvSpPr>
        <p:spPr>
          <a:xfrm>
            <a:off x="1005840" y="3383280"/>
            <a:ext cx="1463040" cy="1828800"/>
          </a:xfrm>
          <a:prstGeom prst="rect">
            <a:avLst/>
          </a:prstGeom>
          <a:noFill/>
        </p:spPr>
        <p:txBody>
          <a:bodyPr wrap="square">
            <a:spAutoFit/>
          </a:bodyPr>
          <a:lstStyle/>
          <a:p>
            <a:pPr>
              <a:spcAft>
                <a:spcPts val="600"/>
              </a:spcAft>
            </a:pPr>
            <a:r>
              <a:rPr sz="1200">
                <a:solidFill>
                  <a:srgbClr val="CBD5E1"/>
                </a:solidFill>
                <a:latin typeface="Inter"/>
              </a:rPr>
              <a:t>Sync leads, appointments,</a:t>
            </a:r>
          </a:p>
          <a:p>
            <a:pPr>
              <a:spcAft>
                <a:spcPts val="600"/>
              </a:spcAft>
            </a:pPr>
            <a:r>
              <a:rPr sz="1200">
                <a:solidFill>
                  <a:srgbClr val="CBD5E1"/>
                </a:solidFill>
                <a:latin typeface="Inter"/>
              </a:rPr>
              <a:t>and follow-ups automatically</a:t>
            </a:r>
          </a:p>
        </p:txBody>
      </p:sp>
      <p:sp>
        <p:nvSpPr>
          <p:cNvPr id="12" name="TextBox 11"/>
          <p:cNvSpPr txBox="1"/>
          <p:nvPr/>
        </p:nvSpPr>
        <p:spPr>
          <a:xfrm>
            <a:off x="3017520" y="2377440"/>
            <a:ext cx="2011680" cy="274320"/>
          </a:xfrm>
          <a:prstGeom prst="rect">
            <a:avLst/>
          </a:prstGeom>
          <a:noFill/>
        </p:spPr>
        <p:txBody>
          <a:bodyPr wrap="none">
            <a:spAutoFit/>
          </a:bodyPr>
          <a:lstStyle/>
          <a:p>
            <a:pPr algn="ctr"/>
            <a:r>
              <a:rPr sz="1100" b="1">
                <a:solidFill>
                  <a:srgbClr val="3B82F6"/>
                </a:solidFill>
                <a:latin typeface="Inter"/>
              </a:rPr>
              <a:t>Q2 2026</a:t>
            </a:r>
          </a:p>
        </p:txBody>
      </p:sp>
      <p:sp>
        <p:nvSpPr>
          <p:cNvPr id="13" name="Rounded Rectangle 12"/>
          <p:cNvSpPr/>
          <p:nvPr/>
        </p:nvSpPr>
        <p:spPr>
          <a:xfrm>
            <a:off x="3017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017520" y="2743200"/>
            <a:ext cx="201168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91839" y="2971800"/>
            <a:ext cx="1463040" cy="365760"/>
          </a:xfrm>
          <a:prstGeom prst="rect">
            <a:avLst/>
          </a:prstGeom>
          <a:noFill/>
        </p:spPr>
        <p:txBody>
          <a:bodyPr wrap="none">
            <a:spAutoFit/>
          </a:bodyPr>
          <a:lstStyle/>
          <a:p>
            <a:r>
              <a:rPr sz="1400" b="1">
                <a:solidFill>
                  <a:srgbClr val="FFFFFF"/>
                </a:solidFill>
                <a:latin typeface="Inter"/>
              </a:rPr>
              <a:t>Advanced
Reporting</a:t>
            </a:r>
          </a:p>
        </p:txBody>
      </p:sp>
      <p:sp>
        <p:nvSpPr>
          <p:cNvPr id="16" name="TextBox 15"/>
          <p:cNvSpPr txBox="1"/>
          <p:nvPr/>
        </p:nvSpPr>
        <p:spPr>
          <a:xfrm>
            <a:off x="3291839" y="3383280"/>
            <a:ext cx="1463040" cy="1828800"/>
          </a:xfrm>
          <a:prstGeom prst="rect">
            <a:avLst/>
          </a:prstGeom>
          <a:noFill/>
        </p:spPr>
        <p:txBody>
          <a:bodyPr wrap="square">
            <a:spAutoFit/>
          </a:bodyPr>
          <a:lstStyle/>
          <a:p>
            <a:pPr>
              <a:spcAft>
                <a:spcPts val="600"/>
              </a:spcAft>
            </a:pPr>
            <a:r>
              <a:rPr sz="1200">
                <a:solidFill>
                  <a:srgbClr val="CBD5E1"/>
                </a:solidFill>
                <a:latin typeface="Inter"/>
              </a:rPr>
              <a:t>Event comparison, trend</a:t>
            </a:r>
          </a:p>
          <a:p>
            <a:pPr>
              <a:spcAft>
                <a:spcPts val="600"/>
              </a:spcAft>
            </a:pPr>
            <a:r>
              <a:rPr sz="1200">
                <a:solidFill>
                  <a:srgbClr val="CBD5E1"/>
                </a:solidFill>
                <a:latin typeface="Inter"/>
              </a:rPr>
              <a:t>analysis, ROI dashboards</a:t>
            </a:r>
          </a:p>
        </p:txBody>
      </p:sp>
      <p:sp>
        <p:nvSpPr>
          <p:cNvPr id="17" name="TextBox 16"/>
          <p:cNvSpPr txBox="1"/>
          <p:nvPr/>
        </p:nvSpPr>
        <p:spPr>
          <a:xfrm>
            <a:off x="5303520" y="2377440"/>
            <a:ext cx="2011680" cy="274320"/>
          </a:xfrm>
          <a:prstGeom prst="rect">
            <a:avLst/>
          </a:prstGeom>
          <a:noFill/>
        </p:spPr>
        <p:txBody>
          <a:bodyPr wrap="none">
            <a:spAutoFit/>
          </a:bodyPr>
          <a:lstStyle/>
          <a:p>
            <a:pPr algn="ctr"/>
            <a:r>
              <a:rPr sz="1100" b="1">
                <a:solidFill>
                  <a:srgbClr val="F59E0B"/>
                </a:solidFill>
                <a:latin typeface="Inter"/>
              </a:rPr>
              <a:t>Q3 2026</a:t>
            </a:r>
          </a:p>
        </p:txBody>
      </p:sp>
      <p:sp>
        <p:nvSpPr>
          <p:cNvPr id="18" name="Rounded Rectangle 17"/>
          <p:cNvSpPr/>
          <p:nvPr/>
        </p:nvSpPr>
        <p:spPr>
          <a:xfrm>
            <a:off x="5303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303520" y="2743200"/>
            <a:ext cx="20116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0" y="2971800"/>
            <a:ext cx="1463040" cy="365760"/>
          </a:xfrm>
          <a:prstGeom prst="rect">
            <a:avLst/>
          </a:prstGeom>
          <a:noFill/>
        </p:spPr>
        <p:txBody>
          <a:bodyPr wrap="none">
            <a:spAutoFit/>
          </a:bodyPr>
          <a:lstStyle/>
          <a:p>
            <a:r>
              <a:rPr sz="1400" b="1">
                <a:solidFill>
                  <a:srgbClr val="FFFFFF"/>
                </a:solidFill>
                <a:latin typeface="Inter"/>
              </a:rPr>
              <a:t>Mail Campaign
Automation</a:t>
            </a:r>
          </a:p>
        </p:txBody>
      </p:sp>
      <p:sp>
        <p:nvSpPr>
          <p:cNvPr id="21" name="TextBox 20"/>
          <p:cNvSpPr txBox="1"/>
          <p:nvPr/>
        </p:nvSpPr>
        <p:spPr>
          <a:xfrm>
            <a:off x="5577840" y="3383280"/>
            <a:ext cx="1463040" cy="1828800"/>
          </a:xfrm>
          <a:prstGeom prst="rect">
            <a:avLst/>
          </a:prstGeom>
          <a:noFill/>
        </p:spPr>
        <p:txBody>
          <a:bodyPr wrap="square">
            <a:spAutoFit/>
          </a:bodyPr>
          <a:lstStyle/>
          <a:p>
            <a:pPr>
              <a:spcAft>
                <a:spcPts val="600"/>
              </a:spcAft>
            </a:pPr>
            <a:r>
              <a:rPr sz="1200">
                <a:solidFill>
                  <a:srgbClr val="CBD5E1"/>
                </a:solidFill>
                <a:latin typeface="Inter"/>
              </a:rPr>
              <a:t>Trigger mail drops from</a:t>
            </a:r>
          </a:p>
          <a:p>
            <a:pPr>
              <a:spcAft>
                <a:spcPts val="600"/>
              </a:spcAft>
            </a:pPr>
            <a:r>
              <a:rPr sz="1200">
                <a:solidFill>
                  <a:srgbClr val="CBD5E1"/>
                </a:solidFill>
                <a:latin typeface="Inter"/>
              </a:rPr>
              <a:t>zip code performance data</a:t>
            </a:r>
          </a:p>
        </p:txBody>
      </p:sp>
      <p:sp>
        <p:nvSpPr>
          <p:cNvPr id="22" name="TextBox 21"/>
          <p:cNvSpPr txBox="1"/>
          <p:nvPr/>
        </p:nvSpPr>
        <p:spPr>
          <a:xfrm>
            <a:off x="7589520" y="2377440"/>
            <a:ext cx="2011680" cy="274320"/>
          </a:xfrm>
          <a:prstGeom prst="rect">
            <a:avLst/>
          </a:prstGeom>
          <a:noFill/>
        </p:spPr>
        <p:txBody>
          <a:bodyPr wrap="none">
            <a:spAutoFit/>
          </a:bodyPr>
          <a:lstStyle/>
          <a:p>
            <a:pPr algn="ctr"/>
            <a:r>
              <a:rPr sz="1100" b="1">
                <a:solidFill>
                  <a:srgbClr val="F59E0B"/>
                </a:solidFill>
                <a:latin typeface="Inter"/>
              </a:rPr>
              <a:t>Q3 2026</a:t>
            </a:r>
          </a:p>
        </p:txBody>
      </p:sp>
      <p:sp>
        <p:nvSpPr>
          <p:cNvPr id="23" name="Rounded Rectangle 22"/>
          <p:cNvSpPr/>
          <p:nvPr/>
        </p:nvSpPr>
        <p:spPr>
          <a:xfrm>
            <a:off x="7589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589520" y="2743200"/>
            <a:ext cx="20116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63840" y="2971800"/>
            <a:ext cx="1463040" cy="365760"/>
          </a:xfrm>
          <a:prstGeom prst="rect">
            <a:avLst/>
          </a:prstGeom>
          <a:noFill/>
        </p:spPr>
        <p:txBody>
          <a:bodyPr wrap="none">
            <a:spAutoFit/>
          </a:bodyPr>
          <a:lstStyle/>
          <a:p>
            <a:r>
              <a:rPr sz="1400" b="1">
                <a:solidFill>
                  <a:srgbClr val="FFFFFF"/>
                </a:solidFill>
                <a:latin typeface="Inter"/>
              </a:rPr>
              <a:t>Mobile App</a:t>
            </a:r>
          </a:p>
        </p:txBody>
      </p:sp>
      <p:sp>
        <p:nvSpPr>
          <p:cNvPr id="26" name="TextBox 25"/>
          <p:cNvSpPr txBox="1"/>
          <p:nvPr/>
        </p:nvSpPr>
        <p:spPr>
          <a:xfrm>
            <a:off x="7863840" y="3383280"/>
            <a:ext cx="1463040" cy="1828800"/>
          </a:xfrm>
          <a:prstGeom prst="rect">
            <a:avLst/>
          </a:prstGeom>
          <a:noFill/>
        </p:spPr>
        <p:txBody>
          <a:bodyPr wrap="square">
            <a:spAutoFit/>
          </a:bodyPr>
          <a:lstStyle/>
          <a:p>
            <a:pPr>
              <a:spcAft>
                <a:spcPts val="600"/>
              </a:spcAft>
            </a:pPr>
            <a:r>
              <a:rPr sz="1200">
                <a:solidFill>
                  <a:srgbClr val="CBD5E1"/>
                </a:solidFill>
                <a:latin typeface="Inter"/>
              </a:rPr>
              <a:t>Dedicated iOS/Android app</a:t>
            </a:r>
          </a:p>
          <a:p>
            <a:pPr>
              <a:spcAft>
                <a:spcPts val="600"/>
              </a:spcAft>
            </a:pPr>
            <a:r>
              <a:rPr sz="1200">
                <a:solidFill>
                  <a:srgbClr val="CBD5E1"/>
                </a:solidFill>
                <a:latin typeface="Inter"/>
              </a:rPr>
              <a:t>for on-the-ground teams</a:t>
            </a:r>
          </a:p>
        </p:txBody>
      </p:sp>
      <p:sp>
        <p:nvSpPr>
          <p:cNvPr id="27" name="TextBox 26"/>
          <p:cNvSpPr txBox="1"/>
          <p:nvPr/>
        </p:nvSpPr>
        <p:spPr>
          <a:xfrm>
            <a:off x="9875520" y="2377440"/>
            <a:ext cx="2011680" cy="274320"/>
          </a:xfrm>
          <a:prstGeom prst="rect">
            <a:avLst/>
          </a:prstGeom>
          <a:noFill/>
        </p:spPr>
        <p:txBody>
          <a:bodyPr wrap="none">
            <a:spAutoFit/>
          </a:bodyPr>
          <a:lstStyle/>
          <a:p>
            <a:pPr algn="ctr"/>
            <a:r>
              <a:rPr sz="1100" b="1">
                <a:solidFill>
                  <a:srgbClr val="22C55E"/>
                </a:solidFill>
                <a:latin typeface="Inter"/>
              </a:rPr>
              <a:t>Q4 2026</a:t>
            </a:r>
          </a:p>
        </p:txBody>
      </p:sp>
      <p:sp>
        <p:nvSpPr>
          <p:cNvPr id="28" name="Rounded Rectangle 27"/>
          <p:cNvSpPr/>
          <p:nvPr/>
        </p:nvSpPr>
        <p:spPr>
          <a:xfrm>
            <a:off x="9875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875520" y="2743200"/>
            <a:ext cx="201168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149840" y="2971800"/>
            <a:ext cx="1463040" cy="365760"/>
          </a:xfrm>
          <a:prstGeom prst="rect">
            <a:avLst/>
          </a:prstGeom>
          <a:noFill/>
        </p:spPr>
        <p:txBody>
          <a:bodyPr wrap="none">
            <a:spAutoFit/>
          </a:bodyPr>
          <a:lstStyle/>
          <a:p>
            <a:r>
              <a:rPr sz="1400" b="1">
                <a:solidFill>
                  <a:srgbClr val="FFFFFF"/>
                </a:solidFill>
                <a:latin typeface="Inter"/>
              </a:rPr>
              <a:t>Multi-Tenant
Scaling</a:t>
            </a:r>
          </a:p>
        </p:txBody>
      </p:sp>
      <p:sp>
        <p:nvSpPr>
          <p:cNvPr id="31" name="TextBox 30"/>
          <p:cNvSpPr txBox="1"/>
          <p:nvPr/>
        </p:nvSpPr>
        <p:spPr>
          <a:xfrm>
            <a:off x="10149840" y="3383280"/>
            <a:ext cx="1463040" cy="1828800"/>
          </a:xfrm>
          <a:prstGeom prst="rect">
            <a:avLst/>
          </a:prstGeom>
          <a:noFill/>
        </p:spPr>
        <p:txBody>
          <a:bodyPr wrap="square">
            <a:spAutoFit/>
          </a:bodyPr>
          <a:lstStyle/>
          <a:p>
            <a:pPr>
              <a:spcAft>
                <a:spcPts val="600"/>
              </a:spcAft>
            </a:pPr>
            <a:r>
              <a:rPr sz="1200">
                <a:solidFill>
                  <a:srgbClr val="CBD5E1"/>
                </a:solidFill>
                <a:latin typeface="Inter"/>
              </a:rPr>
              <a:t>White-label for partner</a:t>
            </a:r>
          </a:p>
          <a:p>
            <a:pPr>
              <a:spcAft>
                <a:spcPts val="600"/>
              </a:spcAft>
            </a:pPr>
            <a:r>
              <a:rPr sz="1200">
                <a:solidFill>
                  <a:srgbClr val="CBD5E1"/>
                </a:solidFill>
                <a:latin typeface="Inter"/>
              </a:rPr>
              <a:t>dealerships to self-serve</a:t>
            </a:r>
          </a:p>
        </p:txBody>
      </p:sp>
      <p:sp>
        <p:nvSpPr>
          <p:cNvPr id="32" name="Rectangle 31"/>
          <p:cNvSpPr/>
          <p:nvPr/>
        </p:nvSpPr>
        <p:spPr>
          <a:xfrm>
            <a:off x="1737360" y="2606040"/>
            <a:ext cx="960120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13 / 13</a:t>
            </a:r>
          </a:p>
        </p:txBody>
      </p:sp>
      <p:sp>
        <p:nvSpPr>
          <p:cNvPr id="4" name="TextBox 3"/>
          <p:cNvSpPr txBox="1"/>
          <p:nvPr/>
        </p:nvSpPr>
        <p:spPr>
          <a:xfrm>
            <a:off x="731520" y="1828800"/>
            <a:ext cx="10972800" cy="914400"/>
          </a:xfrm>
          <a:prstGeom prst="rect">
            <a:avLst/>
          </a:prstGeom>
          <a:noFill/>
        </p:spPr>
        <p:txBody>
          <a:bodyPr wrap="square">
            <a:spAutoFit/>
          </a:bodyPr>
          <a:lstStyle/>
          <a:p>
            <a:pPr algn="l"/>
            <a:r>
              <a:rPr sz="5200" b="1">
                <a:solidFill>
                  <a:srgbClr val="FFFFFF"/>
                </a:solidFill>
                <a:latin typeface="Inter"/>
              </a:rPr>
              <a:t>Thank You</a:t>
            </a:r>
          </a:p>
        </p:txBody>
      </p:sp>
      <p:sp>
        <p:nvSpPr>
          <p:cNvPr id="5" name="Rectangle 4"/>
          <p:cNvSpPr/>
          <p:nvPr/>
        </p:nvSpPr>
        <p:spPr>
          <a:xfrm>
            <a:off x="731520" y="2743200"/>
            <a:ext cx="18288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017520"/>
            <a:ext cx="9144000" cy="731520"/>
          </a:xfrm>
          <a:prstGeom prst="rect">
            <a:avLst/>
          </a:prstGeom>
          <a:noFill/>
        </p:spPr>
        <p:txBody>
          <a:bodyPr wrap="square">
            <a:spAutoFit/>
          </a:bodyPr>
          <a:lstStyle/>
          <a:p>
            <a:r>
              <a:rPr sz="2200">
                <a:solidFill>
                  <a:srgbClr val="CBD5E1"/>
                </a:solidFill>
                <a:latin typeface="Inter"/>
              </a:rPr>
              <a:t>JDE Mission Control — Built by Mike Stopperich</a:t>
            </a:r>
          </a:p>
        </p:txBody>
      </p:sp>
      <p:sp>
        <p:nvSpPr>
          <p:cNvPr id="7" name="TextBox 6"/>
          <p:cNvSpPr txBox="1"/>
          <p:nvPr/>
        </p:nvSpPr>
        <p:spPr>
          <a:xfrm>
            <a:off x="731520" y="3840480"/>
            <a:ext cx="10058400" cy="3200400"/>
          </a:xfrm>
          <a:prstGeom prst="rect">
            <a:avLst/>
          </a:prstGeom>
          <a:noFill/>
        </p:spPr>
        <p:txBody>
          <a:bodyPr wrap="square">
            <a:spAutoFit/>
          </a:bodyPr>
          <a:lstStyle/>
          <a:p>
            <a:pPr>
              <a:spcAft>
                <a:spcPts val="1200"/>
              </a:spcAft>
            </a:pPr>
            <a:r>
              <a:rPr sz="1600">
                <a:solidFill>
                  <a:srgbClr val="94A3B8"/>
                </a:solidFill>
                <a:latin typeface="Inter"/>
              </a:rPr>
              <a:t>mike@justdriveevents.com</a:t>
            </a:r>
          </a:p>
          <a:p>
            <a:pPr>
              <a:spcAft>
                <a:spcPts val="1200"/>
              </a:spcAft>
            </a:pPr>
            <a:r>
              <a:rPr sz="1600">
                <a:solidFill>
                  <a:srgbClr val="94A3B8"/>
                </a:solidFill>
                <a:latin typeface="Inter"/>
              </a:rPr>
              <a:t>justdriveevents.com</a:t>
            </a:r>
          </a:p>
        </p:txBody>
      </p:sp>
      <p:sp>
        <p:nvSpPr>
          <p:cNvPr id="8" name="TextBox 7"/>
          <p:cNvSpPr txBox="1"/>
          <p:nvPr/>
        </p:nvSpPr>
        <p:spPr>
          <a:xfrm>
            <a:off x="2743200" y="4846320"/>
            <a:ext cx="6400800" cy="914400"/>
          </a:xfrm>
          <a:prstGeom prst="rect">
            <a:avLst/>
          </a:prstGeom>
          <a:noFill/>
        </p:spPr>
        <p:txBody>
          <a:bodyPr wrap="square">
            <a:spAutoFit/>
          </a:bodyPr>
          <a:lstStyle/>
          <a:p>
            <a:pPr algn="ctr"/>
            <a:r>
              <a:rPr sz="1600" i="1">
                <a:solidFill>
                  <a:srgbClr val="F59E0B"/>
                </a:solidFill>
                <a:latin typeface="Inter"/>
              </a:rPr>
              <a:t>"From Excel chaos to central command — and we're just getting started."</a:t>
            </a:r>
          </a:p>
        </p:txBody>
      </p:sp>
      <p:sp>
        <p:nvSpPr>
          <p:cNvPr id="9" name="Rounded Rectangle 8"/>
          <p:cNvSpPr/>
          <p:nvPr/>
        </p:nvSpPr>
        <p:spPr>
          <a:xfrm>
            <a:off x="7772400" y="1371600"/>
            <a:ext cx="3931920" cy="365760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0" y="3017520"/>
            <a:ext cx="3931920" cy="365760"/>
          </a:xfrm>
          <a:prstGeom prst="rect">
            <a:avLst/>
          </a:prstGeom>
          <a:noFill/>
        </p:spPr>
        <p:txBody>
          <a:bodyPr wrap="none">
            <a:spAutoFit/>
          </a:bodyPr>
          <a:lstStyle/>
          <a:p>
            <a:pPr algn="ctr"/>
            <a:r>
              <a:rPr sz="1300">
                <a:solidFill>
                  <a:srgbClr val="94A3B8"/>
                </a:solidFill>
                <a:latin typeface="Inter"/>
              </a:rPr>
              <a:t>[ Dashboard Screenshot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1954</Words>
  <Application>Microsoft Macintosh PowerPoint</Application>
  <PresentationFormat>Widescreen</PresentationFormat>
  <Paragraphs>256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Stopperich</cp:lastModifiedBy>
  <cp:revision>1</cp:revision>
  <dcterms:created xsi:type="dcterms:W3CDTF">2013-01-27T09:14:16Z</dcterms:created>
  <dcterms:modified xsi:type="dcterms:W3CDTF">2026-03-03T00:27:53Z</dcterms:modified>
  <cp:category/>
</cp:coreProperties>
</file>